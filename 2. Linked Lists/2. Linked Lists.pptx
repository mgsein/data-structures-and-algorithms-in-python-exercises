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40"/>
  </p:notesMasterIdLst>
  <p:sldIdLst>
    <p:sldId id="256" r:id="rId2"/>
    <p:sldId id="258" r:id="rId3"/>
    <p:sldId id="257" r:id="rId4"/>
    <p:sldId id="259" r:id="rId5"/>
    <p:sldId id="263" r:id="rId6"/>
    <p:sldId id="437" r:id="rId7"/>
    <p:sldId id="438" r:id="rId8"/>
    <p:sldId id="384" r:id="rId9"/>
    <p:sldId id="439" r:id="rId10"/>
    <p:sldId id="440" r:id="rId11"/>
    <p:sldId id="385" r:id="rId12"/>
    <p:sldId id="386" r:id="rId13"/>
    <p:sldId id="441" r:id="rId14"/>
    <p:sldId id="442" r:id="rId15"/>
    <p:sldId id="296" r:id="rId16"/>
    <p:sldId id="387" r:id="rId17"/>
    <p:sldId id="443" r:id="rId18"/>
    <p:sldId id="444" r:id="rId19"/>
    <p:sldId id="445" r:id="rId20"/>
    <p:sldId id="390" r:id="rId21"/>
    <p:sldId id="396" r:id="rId22"/>
    <p:sldId id="408" r:id="rId23"/>
    <p:sldId id="448" r:id="rId24"/>
    <p:sldId id="446" r:id="rId25"/>
    <p:sldId id="447" r:id="rId26"/>
    <p:sldId id="449" r:id="rId27"/>
    <p:sldId id="451" r:id="rId28"/>
    <p:sldId id="452" r:id="rId29"/>
    <p:sldId id="453" r:id="rId30"/>
    <p:sldId id="454" r:id="rId31"/>
    <p:sldId id="455" r:id="rId32"/>
    <p:sldId id="456" r:id="rId33"/>
    <p:sldId id="334" r:id="rId34"/>
    <p:sldId id="388" r:id="rId35"/>
    <p:sldId id="410" r:id="rId36"/>
    <p:sldId id="457" r:id="rId37"/>
    <p:sldId id="409" r:id="rId38"/>
    <p:sldId id="278" r:id="rId39"/>
  </p:sldIdLst>
  <p:sldSz cx="9144000" cy="5143500" type="screen16x9"/>
  <p:notesSz cx="6858000" cy="9144000"/>
  <p:embeddedFontLst>
    <p:embeddedFont>
      <p:font typeface="Catamaran" panose="020B0604020202020204" charset="0"/>
      <p:regular r:id="rId41"/>
      <p:bold r:id="rId42"/>
    </p:embeddedFont>
    <p:embeddedFont>
      <p:font typeface="Catamaran Thin" panose="020B0604020202020204" charset="0"/>
      <p:regular r:id="rId43"/>
      <p:bold r:id="rId44"/>
    </p:embeddedFont>
    <p:embeddedFont>
      <p:font typeface="Calibri" panose="020F0502020204030204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BFEE"/>
    <a:srgbClr val="FF9900"/>
    <a:srgbClr val="FFFF00"/>
    <a:srgbClr val="202085"/>
    <a:srgbClr val="16BBE8"/>
    <a:srgbClr val="2E2E8C"/>
    <a:srgbClr val="725DCF"/>
    <a:srgbClr val="14C0EF"/>
    <a:srgbClr val="202084"/>
    <a:srgbClr val="696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EC2C83-4F27-46E9-AB52-EA9CB43B9D6F}">
  <a:tblStyle styleId="{93EC2C83-4F27-46E9-AB52-EA9CB43B9D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77553AC-1573-4A18-AE2D-678138A4FA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7" autoAdjust="0"/>
    <p:restoredTop sz="94660"/>
  </p:normalViewPr>
  <p:slideViewPr>
    <p:cSldViewPr snapToGrid="0">
      <p:cViewPr varScale="1">
        <p:scale>
          <a:sx n="93" d="100"/>
          <a:sy n="93" d="100"/>
        </p:scale>
        <p:origin x="792" y="-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40599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0561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159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2305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888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5012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655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213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83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824235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95642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63958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67024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6366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0842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23720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1838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99416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68934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47301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812763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3093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8382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38608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38156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27389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285192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84917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15132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8644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68637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9703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83680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80648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d9c6d70173_1_1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d9c6d70173_1_1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1" name="Google Shape;11;p2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702900" y="3250075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3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33" name="Google Shape;33;p3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4" name="Google Shape;34;p3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5" name="Google Shape;35;p3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52" name="Google Shape;52;p3"/>
          <p:cNvSpPr txBox="1">
            <a:spLocks noGrp="1"/>
          </p:cNvSpPr>
          <p:nvPr>
            <p:ph type="ctrTitle"/>
          </p:nvPr>
        </p:nvSpPr>
        <p:spPr>
          <a:xfrm>
            <a:off x="2305150" y="288437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subTitle" idx="1"/>
          </p:nvPr>
        </p:nvSpPr>
        <p:spPr>
          <a:xfrm>
            <a:off x="2305150" y="3385436"/>
            <a:ext cx="5811000" cy="41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2pPr>
            <a:lvl3pPr lvl="2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bg>
      <p:bgPr>
        <a:solidFill>
          <a:schemeClr val="accen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2500800" y="285475"/>
            <a:ext cx="4142388" cy="4572547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4F0089">
              <a:alpha val="1508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239143" y="104898"/>
            <a:ext cx="665704" cy="734888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57" name="Google Shape;57;p4"/>
          <p:cNvSpPr txBox="1">
            <a:spLocks noGrp="1"/>
          </p:cNvSpPr>
          <p:nvPr>
            <p:ph type="body" idx="1"/>
          </p:nvPr>
        </p:nvSpPr>
        <p:spPr>
          <a:xfrm>
            <a:off x="2753950" y="839775"/>
            <a:ext cx="3636000" cy="363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  <a:defRPr i="1">
                <a:solidFill>
                  <a:schemeClr val="lt1"/>
                </a:solidFill>
              </a:defRPr>
            </a:lvl1pPr>
            <a:lvl2pPr marL="914400" lvl="1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2pPr>
            <a:lvl3pPr marL="1371600" lvl="2" indent="-3302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⬡"/>
              <a:defRPr i="1">
                <a:solidFill>
                  <a:schemeClr val="lt1"/>
                </a:solidFill>
              </a:defRPr>
            </a:lvl3pPr>
            <a:lvl4pPr marL="1828800" lvl="3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4pPr>
            <a:lvl5pPr marL="2286000" lvl="4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5pPr>
            <a:lvl6pPr marL="2743200" lvl="5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6pPr>
            <a:lvl7pPr marL="3200400" lvl="6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 i="1">
                <a:solidFill>
                  <a:schemeClr val="lt1"/>
                </a:solidFill>
              </a:defRPr>
            </a:lvl7pPr>
            <a:lvl8pPr marL="3657600" lvl="7" indent="-381000" algn="ctr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i="1">
                <a:solidFill>
                  <a:schemeClr val="lt1"/>
                </a:solidFill>
              </a:defRPr>
            </a:lvl8pPr>
            <a:lvl9pPr marL="4114800" lvl="8" indent="-381000" algn="ctr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2400"/>
              <a:buChar char="■"/>
              <a:defRPr i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3593400" y="3841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rPr>
              <a:t>“</a:t>
            </a:r>
            <a:endParaRPr sz="9600">
              <a:solidFill>
                <a:schemeClr val="accen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4"/>
          <p:cNvSpPr/>
          <p:nvPr/>
        </p:nvSpPr>
        <p:spPr>
          <a:xfrm rot="10800000">
            <a:off x="6914577" y="-3"/>
            <a:ext cx="2002536" cy="734878"/>
          </a:xfrm>
          <a:custGeom>
            <a:avLst/>
            <a:gdLst/>
            <a:ahLst/>
            <a:cxnLst/>
            <a:rect l="l" t="t" r="r" b="b"/>
            <a:pathLst>
              <a:path w="21600" h="21175" extrusionOk="0">
                <a:moveTo>
                  <a:pt x="21600" y="21175"/>
                </a:moveTo>
                <a:lnTo>
                  <a:pt x="21600" y="20652"/>
                </a:lnTo>
                <a:cubicBezTo>
                  <a:pt x="21600" y="17251"/>
                  <a:pt x="20920" y="14109"/>
                  <a:pt x="19815" y="12409"/>
                </a:cubicBezTo>
                <a:lnTo>
                  <a:pt x="12585" y="1274"/>
                </a:lnTo>
                <a:cubicBezTo>
                  <a:pt x="11480" y="-425"/>
                  <a:pt x="10120" y="-425"/>
                  <a:pt x="9015" y="1274"/>
                </a:cubicBezTo>
                <a:lnTo>
                  <a:pt x="1785" y="12409"/>
                </a:lnTo>
                <a:cubicBezTo>
                  <a:pt x="680" y="14108"/>
                  <a:pt x="0" y="17251"/>
                  <a:pt x="0" y="20652"/>
                </a:cubicBezTo>
                <a:lnTo>
                  <a:pt x="0" y="2117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1" name="Google Shape;61;p4"/>
          <p:cNvSpPr/>
          <p:nvPr/>
        </p:nvSpPr>
        <p:spPr>
          <a:xfrm rot="10800000">
            <a:off x="2189989" y="-3"/>
            <a:ext cx="2002536" cy="734878"/>
          </a:xfrm>
          <a:custGeom>
            <a:avLst/>
            <a:gdLst/>
            <a:ahLst/>
            <a:cxnLst/>
            <a:rect l="l" t="t" r="r" b="b"/>
            <a:pathLst>
              <a:path w="21600" h="21175" extrusionOk="0">
                <a:moveTo>
                  <a:pt x="21600" y="21175"/>
                </a:moveTo>
                <a:lnTo>
                  <a:pt x="21600" y="20652"/>
                </a:lnTo>
                <a:cubicBezTo>
                  <a:pt x="21600" y="17251"/>
                  <a:pt x="20920" y="14109"/>
                  <a:pt x="19815" y="12409"/>
                </a:cubicBezTo>
                <a:lnTo>
                  <a:pt x="12585" y="1274"/>
                </a:lnTo>
                <a:cubicBezTo>
                  <a:pt x="11480" y="-425"/>
                  <a:pt x="10120" y="-425"/>
                  <a:pt x="9015" y="1274"/>
                </a:cubicBezTo>
                <a:lnTo>
                  <a:pt x="1785" y="12409"/>
                </a:lnTo>
                <a:cubicBezTo>
                  <a:pt x="680" y="14108"/>
                  <a:pt x="0" y="17251"/>
                  <a:pt x="0" y="20652"/>
                </a:cubicBezTo>
                <a:lnTo>
                  <a:pt x="0" y="2117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609650" y="4039228"/>
            <a:ext cx="2001186" cy="1104224"/>
          </a:xfrm>
          <a:custGeom>
            <a:avLst/>
            <a:gdLst/>
            <a:ahLst/>
            <a:cxnLst/>
            <a:rect l="l" t="t" r="r" b="b"/>
            <a:pathLst>
              <a:path w="21600" h="21315" extrusionOk="0">
                <a:moveTo>
                  <a:pt x="21600" y="21315"/>
                </a:moveTo>
                <a:lnTo>
                  <a:pt x="21600" y="13849"/>
                </a:lnTo>
                <a:cubicBezTo>
                  <a:pt x="21600" y="11569"/>
                  <a:pt x="20920" y="9461"/>
                  <a:pt x="19816" y="8321"/>
                </a:cubicBezTo>
                <a:lnTo>
                  <a:pt x="12585" y="855"/>
                </a:lnTo>
                <a:cubicBezTo>
                  <a:pt x="11480" y="-285"/>
                  <a:pt x="10120" y="-285"/>
                  <a:pt x="9015" y="855"/>
                </a:cubicBezTo>
                <a:lnTo>
                  <a:pt x="1785" y="8321"/>
                </a:lnTo>
                <a:cubicBezTo>
                  <a:pt x="680" y="9461"/>
                  <a:pt x="0" y="11569"/>
                  <a:pt x="0" y="13849"/>
                </a:cubicBezTo>
                <a:lnTo>
                  <a:pt x="0" y="2131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7591188" y="4039228"/>
            <a:ext cx="2001186" cy="1104224"/>
          </a:xfrm>
          <a:custGeom>
            <a:avLst/>
            <a:gdLst/>
            <a:ahLst/>
            <a:cxnLst/>
            <a:rect l="l" t="t" r="r" b="b"/>
            <a:pathLst>
              <a:path w="21600" h="21315" extrusionOk="0">
                <a:moveTo>
                  <a:pt x="21600" y="21315"/>
                </a:moveTo>
                <a:lnTo>
                  <a:pt x="21600" y="13849"/>
                </a:lnTo>
                <a:cubicBezTo>
                  <a:pt x="21600" y="11569"/>
                  <a:pt x="20920" y="9461"/>
                  <a:pt x="19816" y="8321"/>
                </a:cubicBezTo>
                <a:lnTo>
                  <a:pt x="12585" y="855"/>
                </a:lnTo>
                <a:cubicBezTo>
                  <a:pt x="11480" y="-285"/>
                  <a:pt x="10120" y="-285"/>
                  <a:pt x="9015" y="855"/>
                </a:cubicBezTo>
                <a:lnTo>
                  <a:pt x="1785" y="8321"/>
                </a:lnTo>
                <a:cubicBezTo>
                  <a:pt x="680" y="9461"/>
                  <a:pt x="0" y="11569"/>
                  <a:pt x="0" y="13849"/>
                </a:cubicBezTo>
                <a:lnTo>
                  <a:pt x="0" y="21315"/>
                </a:ln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75251" y="3108746"/>
            <a:ext cx="1238537" cy="1367251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6750099" y="2565690"/>
            <a:ext cx="1670713" cy="184417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8078502" y="1646297"/>
            <a:ext cx="1238537" cy="1367197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-276225" y="372088"/>
            <a:ext cx="2001163" cy="2208980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750100" y="993931"/>
            <a:ext cx="874503" cy="965303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-211075" y="4039231"/>
            <a:ext cx="874503" cy="965303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rgbClr val="FFFFFF">
              <a:alpha val="1006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72" name="Google Shape;72;p5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73" name="Google Shape;73;p5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84" name="Google Shape;84;p5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⬢"/>
              <a:defRPr/>
            </a:lvl1pPr>
            <a:lvl2pPr marL="914400" lvl="1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2pPr>
            <a:lvl3pPr marL="1371600" lvl="2" indent="-330200" rtl="0">
              <a:spcBef>
                <a:spcPts val="800"/>
              </a:spcBef>
              <a:spcAft>
                <a:spcPts val="0"/>
              </a:spcAft>
              <a:buSzPts val="1600"/>
              <a:buChar char="⬡"/>
              <a:defRPr/>
            </a:lvl3pPr>
            <a:lvl4pPr marL="1828800" lvl="3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-45517" y="689752"/>
            <a:ext cx="624020" cy="688794"/>
          </a:xfrm>
          <a:custGeom>
            <a:avLst/>
            <a:gdLst/>
            <a:ahLst/>
            <a:cxnLst/>
            <a:rect l="l" t="t" r="r" b="b"/>
            <a:pathLst>
              <a:path w="21598" h="21315" extrusionOk="0">
                <a:moveTo>
                  <a:pt x="21599" y="14389"/>
                </a:moveTo>
                <a:lnTo>
                  <a:pt x="21599" y="6924"/>
                </a:lnTo>
                <a:cubicBezTo>
                  <a:pt x="21599" y="5784"/>
                  <a:pt x="20918" y="4730"/>
                  <a:pt x="19814" y="4161"/>
                </a:cubicBezTo>
                <a:lnTo>
                  <a:pt x="12583" y="428"/>
                </a:lnTo>
                <a:cubicBezTo>
                  <a:pt x="11478" y="-142"/>
                  <a:pt x="10118" y="-142"/>
                  <a:pt x="9013" y="428"/>
                </a:cubicBezTo>
                <a:lnTo>
                  <a:pt x="1783" y="4161"/>
                </a:lnTo>
                <a:cubicBezTo>
                  <a:pt x="679" y="4731"/>
                  <a:pt x="0" y="5784"/>
                  <a:pt x="0" y="6924"/>
                </a:cubicBezTo>
                <a:lnTo>
                  <a:pt x="0" y="14392"/>
                </a:lnTo>
                <a:cubicBezTo>
                  <a:pt x="1" y="15532"/>
                  <a:pt x="681" y="16585"/>
                  <a:pt x="1785" y="17155"/>
                </a:cubicBezTo>
                <a:lnTo>
                  <a:pt x="9016" y="20888"/>
                </a:lnTo>
                <a:cubicBezTo>
                  <a:pt x="10120" y="21458"/>
                  <a:pt x="11481" y="21458"/>
                  <a:pt x="12585" y="20888"/>
                </a:cubicBezTo>
                <a:lnTo>
                  <a:pt x="19816" y="17155"/>
                </a:lnTo>
                <a:cubicBezTo>
                  <a:pt x="20920" y="16584"/>
                  <a:pt x="21600" y="15530"/>
                  <a:pt x="21599" y="1438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i="0" u="none" strike="noStrike" cap="none">
              <a:solidFill>
                <a:srgbClr val="000000"/>
              </a:solidFill>
            </a:endParaRPr>
          </a:p>
        </p:txBody>
      </p:sp>
      <p:grpSp>
        <p:nvGrpSpPr>
          <p:cNvPr id="89" name="Google Shape;89;p6"/>
          <p:cNvGrpSpPr/>
          <p:nvPr/>
        </p:nvGrpSpPr>
        <p:grpSpPr>
          <a:xfrm>
            <a:off x="6320991" y="-7"/>
            <a:ext cx="3630818" cy="5143498"/>
            <a:chOff x="6320991" y="-7"/>
            <a:chExt cx="3630818" cy="5143498"/>
          </a:xfrm>
        </p:grpSpPr>
        <p:sp>
          <p:nvSpPr>
            <p:cNvPr id="90" name="Google Shape;90;p6"/>
            <p:cNvSpPr/>
            <p:nvPr/>
          </p:nvSpPr>
          <p:spPr>
            <a:xfrm>
              <a:off x="6320991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1" name="Google Shape;91;p6"/>
            <p:cNvSpPr/>
            <p:nvPr/>
          </p:nvSpPr>
          <p:spPr>
            <a:xfrm>
              <a:off x="7806636" y="4115782"/>
              <a:ext cx="1403568" cy="1027710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2" name="Google Shape;92;p6"/>
            <p:cNvSpPr/>
            <p:nvPr/>
          </p:nvSpPr>
          <p:spPr>
            <a:xfrm>
              <a:off x="8548210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3" name="Google Shape;93;p6"/>
            <p:cNvSpPr/>
            <p:nvPr/>
          </p:nvSpPr>
          <p:spPr>
            <a:xfrm rot="10800000">
              <a:off x="7806422" y="30"/>
              <a:ext cx="1404540" cy="515400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7806643" y="1543679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5" name="Google Shape;95;p6"/>
            <p:cNvSpPr/>
            <p:nvPr/>
          </p:nvSpPr>
          <p:spPr>
            <a:xfrm>
              <a:off x="7065077" y="260974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>
              <a:off x="8745616" y="1335143"/>
              <a:ext cx="835681" cy="92246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7133773" y="3941724"/>
              <a:ext cx="507445" cy="5601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8" name="Google Shape;98;p6"/>
            <p:cNvSpPr/>
            <p:nvPr/>
          </p:nvSpPr>
          <p:spPr>
            <a:xfrm rot="10800000">
              <a:off x="7406482" y="-7"/>
              <a:ext cx="720792" cy="527782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7331887" y="2181982"/>
              <a:ext cx="962029" cy="106196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5322C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548210" y="2833077"/>
              <a:ext cx="1403600" cy="1549387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01" name="Google Shape;101;p6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"/>
          <p:cNvSpPr txBox="1">
            <a:spLocks noGrp="1"/>
          </p:cNvSpPr>
          <p:nvPr>
            <p:ph type="body" idx="1"/>
          </p:nvPr>
        </p:nvSpPr>
        <p:spPr>
          <a:xfrm>
            <a:off x="779075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3" name="Google Shape;103;p6"/>
          <p:cNvSpPr txBox="1">
            <a:spLocks noGrp="1"/>
          </p:cNvSpPr>
          <p:nvPr>
            <p:ph type="body" idx="2"/>
          </p:nvPr>
        </p:nvSpPr>
        <p:spPr>
          <a:xfrm>
            <a:off x="3981304" y="1503550"/>
            <a:ext cx="2808300" cy="326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⬢"/>
              <a:defRPr sz="2000"/>
            </a:lvl1pPr>
            <a:lvl2pPr marL="914400" lvl="1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2pPr>
            <a:lvl3pPr marL="1371600" lvl="2" indent="-317500" rtl="0">
              <a:spcBef>
                <a:spcPts val="800"/>
              </a:spcBef>
              <a:spcAft>
                <a:spcPts val="0"/>
              </a:spcAft>
              <a:buSzPts val="1400"/>
              <a:buChar char="⬡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10"/>
          <p:cNvGrpSpPr/>
          <p:nvPr/>
        </p:nvGrpSpPr>
        <p:grpSpPr>
          <a:xfrm>
            <a:off x="-981075" y="-3"/>
            <a:ext cx="11516344" cy="5143455"/>
            <a:chOff x="-981075" y="-3"/>
            <a:chExt cx="11516344" cy="5143455"/>
          </a:xfrm>
        </p:grpSpPr>
        <p:sp>
          <p:nvSpPr>
            <p:cNvPr id="159" name="Google Shape;159;p10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0" name="Google Shape;160;p10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1" name="Google Shape;161;p10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2" name="Google Shape;162;p10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3" name="Google Shape;163;p10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5" name="Google Shape;165;p10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7" name="Google Shape;167;p10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69" name="Google Shape;169;p10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  <p:sp>
        <p:nvSpPr>
          <p:cNvPr id="171" name="Google Shape;171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Color background">
  <p:cSld name="BLANK_1">
    <p:bg>
      <p:bgPr>
        <a:solidFill>
          <a:schemeClr val="accen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4" name="Google Shape;174;p11"/>
          <p:cNvGrpSpPr/>
          <p:nvPr/>
        </p:nvGrpSpPr>
        <p:grpSpPr>
          <a:xfrm>
            <a:off x="-981075" y="-78100"/>
            <a:ext cx="11516344" cy="5221552"/>
            <a:chOff x="-981075" y="-78100"/>
            <a:chExt cx="11516344" cy="5221552"/>
          </a:xfrm>
        </p:grpSpPr>
        <p:sp>
          <p:nvSpPr>
            <p:cNvPr id="175" name="Google Shape;175;p11"/>
            <p:cNvSpPr/>
            <p:nvPr/>
          </p:nvSpPr>
          <p:spPr>
            <a:xfrm rot="10800000">
              <a:off x="4304464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6" name="Google Shape;176;p11"/>
            <p:cNvSpPr/>
            <p:nvPr/>
          </p:nvSpPr>
          <p:spPr>
            <a:xfrm rot="10800000">
              <a:off x="6419277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7" name="Google Shape;177;p11"/>
            <p:cNvSpPr/>
            <p:nvPr/>
          </p:nvSpPr>
          <p:spPr>
            <a:xfrm rot="10800000">
              <a:off x="2189989" y="-3"/>
              <a:ext cx="2002536" cy="734878"/>
            </a:xfrm>
            <a:custGeom>
              <a:avLst/>
              <a:gdLst/>
              <a:ahLst/>
              <a:cxnLst/>
              <a:rect l="l" t="t" r="r" b="b"/>
              <a:pathLst>
                <a:path w="21600" h="21175" extrusionOk="0">
                  <a:moveTo>
                    <a:pt x="21600" y="21175"/>
                  </a:moveTo>
                  <a:lnTo>
                    <a:pt x="21600" y="20652"/>
                  </a:lnTo>
                  <a:cubicBezTo>
                    <a:pt x="21600" y="17251"/>
                    <a:pt x="20920" y="14109"/>
                    <a:pt x="19815" y="12409"/>
                  </a:cubicBezTo>
                  <a:lnTo>
                    <a:pt x="12585" y="1274"/>
                  </a:lnTo>
                  <a:cubicBezTo>
                    <a:pt x="11480" y="-425"/>
                    <a:pt x="10120" y="-425"/>
                    <a:pt x="9015" y="1274"/>
                  </a:cubicBezTo>
                  <a:lnTo>
                    <a:pt x="1785" y="12409"/>
                  </a:lnTo>
                  <a:cubicBezTo>
                    <a:pt x="680" y="14108"/>
                    <a:pt x="0" y="17251"/>
                    <a:pt x="0" y="20652"/>
                  </a:cubicBezTo>
                  <a:lnTo>
                    <a:pt x="0" y="2117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1133400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3247913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476888" y="4039228"/>
              <a:ext cx="2001186" cy="1104224"/>
            </a:xfrm>
            <a:custGeom>
              <a:avLst/>
              <a:gdLst/>
              <a:ahLst/>
              <a:cxnLst/>
              <a:rect l="l" t="t" r="r" b="b"/>
              <a:pathLst>
                <a:path w="21600" h="21315" extrusionOk="0">
                  <a:moveTo>
                    <a:pt x="21600" y="21315"/>
                  </a:moveTo>
                  <a:lnTo>
                    <a:pt x="21600" y="13849"/>
                  </a:lnTo>
                  <a:cubicBezTo>
                    <a:pt x="21600" y="11569"/>
                    <a:pt x="20920" y="9461"/>
                    <a:pt x="19816" y="8321"/>
                  </a:cubicBezTo>
                  <a:lnTo>
                    <a:pt x="12585" y="855"/>
                  </a:lnTo>
                  <a:cubicBezTo>
                    <a:pt x="11480" y="-285"/>
                    <a:pt x="10120" y="-285"/>
                    <a:pt x="9015" y="855"/>
                  </a:cubicBezTo>
                  <a:lnTo>
                    <a:pt x="1785" y="8321"/>
                  </a:lnTo>
                  <a:cubicBezTo>
                    <a:pt x="680" y="9461"/>
                    <a:pt x="0" y="11569"/>
                    <a:pt x="0" y="13849"/>
                  </a:cubicBezTo>
                  <a:lnTo>
                    <a:pt x="0" y="21315"/>
                  </a:ln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620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2190677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6419630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34106" y="22008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-98107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3247878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5362355" y="372088"/>
              <a:ext cx="2001163" cy="220898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FFFFFF">
                <a:alpha val="1006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7848601" y="18269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448201" y="-7810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-581024" y="3340950"/>
              <a:ext cx="1371581" cy="1514058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1152450" y="131360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7496375" y="3161451"/>
              <a:ext cx="723479" cy="798620"/>
            </a:xfrm>
            <a:custGeom>
              <a:avLst/>
              <a:gdLst/>
              <a:ahLst/>
              <a:cxnLst/>
              <a:rect l="l" t="t" r="r" b="b"/>
              <a:pathLst>
                <a:path w="21598" h="21315" extrusionOk="0">
                  <a:moveTo>
                    <a:pt x="21599" y="14389"/>
                  </a:moveTo>
                  <a:lnTo>
                    <a:pt x="21599" y="6924"/>
                  </a:lnTo>
                  <a:cubicBezTo>
                    <a:pt x="21599" y="5784"/>
                    <a:pt x="20918" y="4730"/>
                    <a:pt x="19814" y="4161"/>
                  </a:cubicBezTo>
                  <a:lnTo>
                    <a:pt x="12583" y="428"/>
                  </a:lnTo>
                  <a:cubicBezTo>
                    <a:pt x="11478" y="-142"/>
                    <a:pt x="10118" y="-142"/>
                    <a:pt x="9013" y="428"/>
                  </a:cubicBezTo>
                  <a:lnTo>
                    <a:pt x="1783" y="4161"/>
                  </a:lnTo>
                  <a:cubicBezTo>
                    <a:pt x="679" y="4731"/>
                    <a:pt x="0" y="5784"/>
                    <a:pt x="0" y="6924"/>
                  </a:cubicBezTo>
                  <a:lnTo>
                    <a:pt x="0" y="14392"/>
                  </a:lnTo>
                  <a:cubicBezTo>
                    <a:pt x="1" y="15532"/>
                    <a:pt x="681" y="16585"/>
                    <a:pt x="1785" y="17155"/>
                  </a:cubicBezTo>
                  <a:lnTo>
                    <a:pt x="9016" y="20888"/>
                  </a:lnTo>
                  <a:cubicBezTo>
                    <a:pt x="10120" y="21458"/>
                    <a:pt x="11481" y="21458"/>
                    <a:pt x="12585" y="20888"/>
                  </a:cubicBezTo>
                  <a:lnTo>
                    <a:pt x="19816" y="17155"/>
                  </a:lnTo>
                  <a:cubicBezTo>
                    <a:pt x="20920" y="16584"/>
                    <a:pt x="21600" y="15530"/>
                    <a:pt x="21599" y="14389"/>
                  </a:cubicBez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 rot="10800000">
              <a:off x="7744475" y="-9"/>
              <a:ext cx="1027674" cy="752485"/>
            </a:xfrm>
            <a:custGeom>
              <a:avLst/>
              <a:gdLst/>
              <a:ahLst/>
              <a:cxnLst/>
              <a:rect l="l" t="t" r="r" b="b"/>
              <a:pathLst>
                <a:path w="21600" h="21385" extrusionOk="0">
                  <a:moveTo>
                    <a:pt x="21600" y="21385"/>
                  </a:moveTo>
                  <a:lnTo>
                    <a:pt x="21600" y="10472"/>
                  </a:lnTo>
                  <a:cubicBezTo>
                    <a:pt x="21600" y="8748"/>
                    <a:pt x="20920" y="7155"/>
                    <a:pt x="19816" y="6292"/>
                  </a:cubicBezTo>
                  <a:lnTo>
                    <a:pt x="12585" y="647"/>
                  </a:lnTo>
                  <a:cubicBezTo>
                    <a:pt x="11480" y="-215"/>
                    <a:pt x="10120" y="-215"/>
                    <a:pt x="9015" y="647"/>
                  </a:cubicBezTo>
                  <a:lnTo>
                    <a:pt x="1785" y="6292"/>
                  </a:lnTo>
                  <a:cubicBezTo>
                    <a:pt x="680" y="7154"/>
                    <a:pt x="0" y="8748"/>
                    <a:pt x="0" y="10472"/>
                  </a:cubicBezTo>
                  <a:lnTo>
                    <a:pt x="0" y="21385"/>
                  </a:lnTo>
                  <a:close/>
                </a:path>
              </a:pathLst>
            </a:custGeom>
            <a:solidFill>
              <a:srgbClr val="4F0089">
                <a:alpha val="15080"/>
              </a:srgbClr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endParaRPr sz="1800" i="0" u="none" strike="noStrike" cap="none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79100" y="1503550"/>
            <a:ext cx="60105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⬢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1pPr>
            <a:lvl2pPr marL="914400" lvl="1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2pPr>
            <a:lvl3pPr marL="1371600" lvl="2" indent="-3302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atamaran Thin"/>
              <a:buChar char="⬡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●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Thin"/>
              <a:buChar char="○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2400"/>
              <a:buFont typeface="Catamaran Thin"/>
              <a:buChar char="■"/>
              <a:defRPr sz="2400">
                <a:solidFill>
                  <a:schemeClr val="dk1"/>
                </a:solidFill>
                <a:latin typeface="Catamaran Thin"/>
                <a:ea typeface="Catamaran Thin"/>
                <a:cs typeface="Catamaran Thin"/>
                <a:sym typeface="Catamaran Thin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r" rtl="0">
              <a:buNone/>
              <a:defRPr sz="1300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6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12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1" y="-80486"/>
            <a:ext cx="4044927" cy="4044927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99" name="Google Shape;199;p12"/>
          <p:cNvSpPr txBox="1">
            <a:spLocks noGrp="1"/>
          </p:cNvSpPr>
          <p:nvPr>
            <p:ph type="ctrTitle"/>
          </p:nvPr>
        </p:nvSpPr>
        <p:spPr>
          <a:xfrm>
            <a:off x="405189" y="2665284"/>
            <a:ext cx="49551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Structures</a:t>
            </a:r>
            <a:br>
              <a:rPr lang="en" dirty="0" smtClean="0"/>
            </a:br>
            <a:r>
              <a:rPr lang="en" dirty="0" smtClean="0"/>
              <a:t>&amp; Algorithms in Python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405189" y="3764386"/>
            <a:ext cx="3115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tamaran" panose="020B0604020202020204" charset="0"/>
                <a:cs typeface="Catamaran" panose="020B0604020202020204" charset="0"/>
              </a:rPr>
              <a:t>Instructor: Aung Hein</a:t>
            </a:r>
            <a:endParaRPr lang="en-US" sz="2000" b="1" dirty="0">
              <a:solidFill>
                <a:schemeClr val="accent4">
                  <a:lumMod val="60000"/>
                  <a:lumOff val="40000"/>
                </a:schemeClr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"/>
          <p:cNvSpPr txBox="1">
            <a:spLocks noGrp="1"/>
          </p:cNvSpPr>
          <p:nvPr>
            <p:ph type="ctrTitle" idx="4294967295"/>
          </p:nvPr>
        </p:nvSpPr>
        <p:spPr>
          <a:xfrm>
            <a:off x="3381175" y="1054175"/>
            <a:ext cx="44223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HELLO!</a:t>
            </a:r>
            <a:endParaRPr sz="9600" dirty="0"/>
          </a:p>
        </p:txBody>
      </p:sp>
      <p:sp>
        <p:nvSpPr>
          <p:cNvPr id="219" name="Google Shape;219;p14"/>
          <p:cNvSpPr txBox="1">
            <a:spLocks noGrp="1"/>
          </p:cNvSpPr>
          <p:nvPr>
            <p:ph type="subTitle" idx="4294967295"/>
          </p:nvPr>
        </p:nvSpPr>
        <p:spPr>
          <a:xfrm>
            <a:off x="3381174" y="2083673"/>
            <a:ext cx="5762826" cy="16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I am </a:t>
            </a:r>
            <a:r>
              <a:rPr lang="en-SG" b="1" dirty="0" smtClean="0"/>
              <a:t>Aung Hein</a:t>
            </a:r>
            <a:endParaRPr b="1" dirty="0"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b="1" dirty="0" smtClean="0"/>
              <a:t>Bachelor of Computer Science (UCSY)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b="1" dirty="0" smtClean="0"/>
              <a:t>Master of Science in IT &amp; Data Science (</a:t>
            </a:r>
            <a:r>
              <a:rPr lang="en-SG" b="1" dirty="0" err="1" smtClean="0"/>
              <a:t>EIU,Paris</a:t>
            </a:r>
            <a:r>
              <a:rPr lang="en-SG" b="1" dirty="0" smtClean="0"/>
              <a:t>)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i="1" dirty="0" smtClean="0"/>
              <a:t>Cyber Security &amp; Quantum Computing Enthusiasts</a:t>
            </a:r>
            <a:endParaRPr i="1" dirty="0"/>
          </a:p>
        </p:txBody>
      </p:sp>
      <p:sp>
        <p:nvSpPr>
          <p:cNvPr id="220" name="Google Shape;220;p1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21" name="Google Shape;221;p14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150" y="504315"/>
            <a:ext cx="1975353" cy="1975353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Alternate Process 16"/>
          <p:cNvSpPr/>
          <p:nvPr/>
        </p:nvSpPr>
        <p:spPr>
          <a:xfrm>
            <a:off x="5011856" y="1368060"/>
            <a:ext cx="2044557" cy="522061"/>
          </a:xfrm>
          <a:prstGeom prst="flowChartAlternateProcess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Alternate Process 3"/>
          <p:cNvSpPr/>
          <p:nvPr/>
        </p:nvSpPr>
        <p:spPr>
          <a:xfrm>
            <a:off x="1088095" y="1390259"/>
            <a:ext cx="2044557" cy="522061"/>
          </a:xfrm>
          <a:prstGeom prst="flowChartAlternateProcess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/>
          </p:nvPr>
        </p:nvSpPr>
        <p:spPr>
          <a:xfrm>
            <a:off x="797114" y="836000"/>
            <a:ext cx="8059807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 Structures and Algorithms in Python</a:t>
            </a:r>
            <a:endParaRPr dirty="0"/>
          </a:p>
        </p:txBody>
      </p:sp>
      <p:sp>
        <p:nvSpPr>
          <p:cNvPr id="206" name="Google Shape;206;p13"/>
          <p:cNvSpPr txBox="1">
            <a:spLocks noGrp="1"/>
          </p:cNvSpPr>
          <p:nvPr>
            <p:ph type="body" idx="1"/>
          </p:nvPr>
        </p:nvSpPr>
        <p:spPr>
          <a:xfrm>
            <a:off x="779075" y="2048080"/>
            <a:ext cx="3299766" cy="26061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1000" b="1" dirty="0" smtClean="0"/>
              <a:t>0</a:t>
            </a:r>
            <a:r>
              <a:rPr lang="en-SG" b="1" dirty="0" smtClean="0"/>
              <a:t>.  Intro to Data Structures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Stack, Queues &amp; </a:t>
            </a:r>
            <a:r>
              <a:rPr lang="en-SG" b="1" dirty="0" err="1" smtClean="0"/>
              <a:t>Deques</a:t>
            </a:r>
            <a:endParaRPr lang="en-SG" b="1" dirty="0" smtClean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Link List</a:t>
            </a:r>
            <a:endParaRPr lang="en-SG" dirty="0" smtClean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Trees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Dictionaries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Sets and Frozen Sets</a:t>
            </a:r>
          </a:p>
          <a:p>
            <a:pPr marL="228600" indent="-228600"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Recursion, …</a:t>
            </a:r>
          </a:p>
        </p:txBody>
      </p:sp>
      <p:sp>
        <p:nvSpPr>
          <p:cNvPr id="208" name="Google Shape;208;p1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09" name="Google Shape;209;p13"/>
          <p:cNvGrpSpPr/>
          <p:nvPr/>
        </p:nvGrpSpPr>
        <p:grpSpPr>
          <a:xfrm>
            <a:off x="137571" y="922106"/>
            <a:ext cx="269364" cy="224087"/>
            <a:chOff x="1926350" y="995225"/>
            <a:chExt cx="428650" cy="356600"/>
          </a:xfrm>
        </p:grpSpPr>
        <p:sp>
          <p:nvSpPr>
            <p:cNvPr id="210" name="Google Shape;210;p13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1" name="Google Shape;206;p13"/>
          <p:cNvSpPr txBox="1">
            <a:spLocks noGrp="1"/>
          </p:cNvSpPr>
          <p:nvPr>
            <p:ph type="body" idx="1"/>
          </p:nvPr>
        </p:nvSpPr>
        <p:spPr>
          <a:xfrm>
            <a:off x="4819421" y="2025881"/>
            <a:ext cx="3299766" cy="262831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sz="1000" b="1" dirty="0" smtClean="0"/>
              <a:t>0</a:t>
            </a:r>
            <a:r>
              <a:rPr lang="en-SG" b="1" dirty="0" smtClean="0"/>
              <a:t>.  Algorithmic Thinking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Depth-First Search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Breadth-First Search</a:t>
            </a:r>
            <a:endParaRPr lang="en-SG" dirty="0" smtClean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A* Search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Quicksort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Selection Sort</a:t>
            </a:r>
          </a:p>
          <a:p>
            <a:pPr marL="228600" indent="-228600">
              <a:buClr>
                <a:schemeClr val="dk1"/>
              </a:buClr>
              <a:buSzPts val="1100"/>
              <a:buFont typeface="Arial"/>
              <a:buAutoNum type="arabicPeriod"/>
            </a:pPr>
            <a:r>
              <a:rPr lang="en-SG" b="1" dirty="0" smtClean="0"/>
              <a:t>Greedy Algorithms, …</a:t>
            </a:r>
          </a:p>
        </p:txBody>
      </p:sp>
      <p:sp>
        <p:nvSpPr>
          <p:cNvPr id="13" name="Google Shape;206;p13"/>
          <p:cNvSpPr txBox="1">
            <a:spLocks noGrp="1"/>
          </p:cNvSpPr>
          <p:nvPr>
            <p:ph type="body" idx="1"/>
          </p:nvPr>
        </p:nvSpPr>
        <p:spPr>
          <a:xfrm>
            <a:off x="1293185" y="1493544"/>
            <a:ext cx="1897687" cy="75649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b="1" dirty="0" smtClean="0">
                <a:solidFill>
                  <a:schemeClr val="bg1"/>
                </a:solidFill>
              </a:rPr>
              <a:t>Data Structures</a:t>
            </a:r>
          </a:p>
        </p:txBody>
      </p:sp>
      <p:sp>
        <p:nvSpPr>
          <p:cNvPr id="14" name="Google Shape;206;p13"/>
          <p:cNvSpPr txBox="1">
            <a:spLocks noGrp="1"/>
          </p:cNvSpPr>
          <p:nvPr>
            <p:ph type="body" idx="1"/>
          </p:nvPr>
        </p:nvSpPr>
        <p:spPr>
          <a:xfrm>
            <a:off x="5436348" y="1474144"/>
            <a:ext cx="1897687" cy="75649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SG" b="1" dirty="0" smtClean="0">
                <a:solidFill>
                  <a:schemeClr val="bg1"/>
                </a:solidFill>
              </a:rPr>
              <a:t>Algorithms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ctrTitle"/>
          </p:nvPr>
        </p:nvSpPr>
        <p:spPr>
          <a:xfrm>
            <a:off x="2305150" y="2884378"/>
            <a:ext cx="5811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Linked Lists</a:t>
            </a:r>
            <a:endParaRPr dirty="0"/>
          </a:p>
        </p:txBody>
      </p:sp>
      <p:sp>
        <p:nvSpPr>
          <p:cNvPr id="228" name="Google Shape;228;p15"/>
          <p:cNvSpPr txBox="1"/>
          <p:nvPr/>
        </p:nvSpPr>
        <p:spPr>
          <a:xfrm>
            <a:off x="77600" y="2201325"/>
            <a:ext cx="2004000" cy="22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b="1" dirty="0">
                <a:solidFill>
                  <a:schemeClr val="lt1"/>
                </a:solidFill>
                <a:latin typeface="Catamaran"/>
                <a:ea typeface="Catamaran"/>
                <a:cs typeface="Catamaran"/>
                <a:sym typeface="Catamaran"/>
              </a:rPr>
              <a:t>2</a:t>
            </a:r>
            <a:endParaRPr sz="9600" b="1" dirty="0">
              <a:solidFill>
                <a:schemeClr val="lt1"/>
              </a:solidFill>
              <a:latin typeface="Catamaran"/>
              <a:ea typeface="Catamaran"/>
              <a:cs typeface="Catamaran"/>
              <a:sym typeface="Catamaran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277456" y="1643865"/>
            <a:ext cx="2106202" cy="883578"/>
          </a:xfrm>
          <a:prstGeom prst="roundRect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2801590"/>
            <a:ext cx="770150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The Python list, despite its lowercase spelling in Python, this is actually a class, the list class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Lists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544925" y="1816133"/>
            <a:ext cx="15712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SG" sz="3000" b="1" dirty="0">
                <a:solidFill>
                  <a:schemeClr val="bg1"/>
                </a:solidFill>
                <a:latin typeface="Catamaran" panose="020B0604020202020204" charset="0"/>
                <a:cs typeface="Catamaran" panose="020B0604020202020204" charset="0"/>
              </a:rPr>
              <a:t>class list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3696755"/>
            <a:ext cx="770150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A </a:t>
            </a:r>
            <a:r>
              <a:rPr lang="en-US" dirty="0" err="1" smtClean="0"/>
              <a:t>datetime</a:t>
            </a:r>
            <a:r>
              <a:rPr lang="en-US" dirty="0" smtClean="0"/>
              <a:t> </a:t>
            </a:r>
            <a:r>
              <a:rPr lang="en-US" dirty="0"/>
              <a:t>class, have a limited amount of data they will ever hold in </a:t>
            </a:r>
            <a:r>
              <a:rPr lang="en-US" dirty="0" smtClean="0"/>
              <a:t>them</a:t>
            </a:r>
          </a:p>
          <a:p>
            <a:pPr marL="342900" indent="-342900"/>
            <a:r>
              <a:rPr lang="en-US" dirty="0" smtClean="0"/>
              <a:t>Python knows </a:t>
            </a:r>
            <a:r>
              <a:rPr lang="en-US" dirty="0"/>
              <a:t>exactly how much memory it needs to store </a:t>
            </a:r>
            <a:r>
              <a:rPr lang="en-US" dirty="0" smtClean="0"/>
              <a:t>it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79074" y="1739946"/>
            <a:ext cx="259558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SG" sz="3000" b="1" dirty="0">
                <a:solidFill>
                  <a:schemeClr val="tx1"/>
                </a:solidFill>
                <a:latin typeface="Catamaran" panose="020B0604020202020204" charset="0"/>
                <a:cs typeface="Catamaran" panose="020B0604020202020204" charset="0"/>
              </a:rPr>
              <a:t>class </a:t>
            </a:r>
            <a:r>
              <a:rPr lang="en-SG" sz="3000" b="1" dirty="0" err="1" smtClean="0">
                <a:solidFill>
                  <a:schemeClr val="tx1"/>
                </a:solidFill>
                <a:latin typeface="Catamaran" panose="020B0604020202020204" charset="0"/>
                <a:cs typeface="Catamaran" panose="020B0604020202020204" charset="0"/>
              </a:rPr>
              <a:t>datetime</a:t>
            </a:r>
            <a:endParaRPr lang="en-SG" sz="3000" b="1" dirty="0">
              <a:solidFill>
                <a:schemeClr val="tx1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589" y="2345716"/>
            <a:ext cx="8732653" cy="911160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Google Shape;272;p19"/>
          <p:cNvSpPr txBox="1">
            <a:spLocks noGrp="1"/>
          </p:cNvSpPr>
          <p:nvPr>
            <p:ph type="body" idx="1"/>
          </p:nvPr>
        </p:nvSpPr>
        <p:spPr>
          <a:xfrm>
            <a:off x="525162" y="2623657"/>
            <a:ext cx="687196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US" dirty="0" smtClean="0"/>
              <a:t>YEAR</a:t>
            </a:r>
            <a:endParaRPr dirty="0"/>
          </a:p>
        </p:txBody>
      </p:sp>
      <p:sp>
        <p:nvSpPr>
          <p:cNvPr id="1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1676173" y="2634333"/>
            <a:ext cx="902641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MONTH</a:t>
            </a:r>
            <a:endParaRPr dirty="0"/>
          </a:p>
        </p:txBody>
      </p:sp>
      <p:sp>
        <p:nvSpPr>
          <p:cNvPr id="16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880251" y="2623657"/>
            <a:ext cx="902641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DAY</a:t>
            </a:r>
            <a:endParaRPr dirty="0"/>
          </a:p>
        </p:txBody>
      </p:sp>
      <p:sp>
        <p:nvSpPr>
          <p:cNvPr id="17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092598" y="2611368"/>
            <a:ext cx="902641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HOUR</a:t>
            </a:r>
            <a:endParaRPr dirty="0"/>
          </a:p>
        </p:txBody>
      </p:sp>
      <p:sp>
        <p:nvSpPr>
          <p:cNvPr id="18" name="Google Shape;272;p19"/>
          <p:cNvSpPr txBox="1">
            <a:spLocks noGrp="1"/>
          </p:cNvSpPr>
          <p:nvPr>
            <p:ph type="body" idx="1"/>
          </p:nvPr>
        </p:nvSpPr>
        <p:spPr>
          <a:xfrm>
            <a:off x="5303459" y="2595492"/>
            <a:ext cx="902641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MINUTE</a:t>
            </a:r>
            <a:endParaRPr dirty="0"/>
          </a:p>
        </p:txBody>
      </p:sp>
      <p:sp>
        <p:nvSpPr>
          <p:cNvPr id="1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536427" y="2608360"/>
            <a:ext cx="100658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SECOND</a:t>
            </a:r>
            <a:endParaRPr dirty="0"/>
          </a:p>
        </p:txBody>
      </p:sp>
      <p:sp>
        <p:nvSpPr>
          <p:cNvPr id="20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59048" y="2611368"/>
            <a:ext cx="100658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MS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507575" y="2530001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28491" y="251801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009245" y="2528291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230161" y="251630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70482" y="2526581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591398" y="251459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802034" y="251288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45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3696755"/>
            <a:ext cx="770150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What about </a:t>
            </a:r>
            <a:r>
              <a:rPr lang="en-US" dirty="0"/>
              <a:t>a list? </a:t>
            </a:r>
            <a:endParaRPr lang="en-US" dirty="0" smtClean="0"/>
          </a:p>
          <a:p>
            <a:pPr marL="342900" indent="-342900"/>
            <a:r>
              <a:rPr lang="en-US" dirty="0" smtClean="0"/>
              <a:t>How </a:t>
            </a:r>
            <a:r>
              <a:rPr lang="en-US" dirty="0"/>
              <a:t>big is a list? </a:t>
            </a:r>
            <a:endParaRPr lang="en-US" dirty="0" smtClean="0"/>
          </a:p>
          <a:p>
            <a:pPr marL="342900" indent="-342900"/>
            <a:r>
              <a:rPr lang="en-US" dirty="0" smtClean="0"/>
              <a:t>Well</a:t>
            </a:r>
            <a:r>
              <a:rPr lang="en-US" dirty="0"/>
              <a:t>, it can be any size. It can be zero elements </a:t>
            </a:r>
            <a:r>
              <a:rPr lang="en-US" dirty="0" smtClean="0"/>
              <a:t>long</a:t>
            </a:r>
          </a:p>
          <a:p>
            <a:pPr marL="342900" indent="-342900"/>
            <a:r>
              <a:rPr lang="en-US" dirty="0" smtClean="0"/>
              <a:t>it </a:t>
            </a:r>
            <a:r>
              <a:rPr lang="en-US" dirty="0"/>
              <a:t>can be 500 million elements long, there's just no </a:t>
            </a:r>
            <a:r>
              <a:rPr lang="en-US" dirty="0" smtClean="0"/>
              <a:t>telling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779074" y="1739946"/>
            <a:ext cx="1571264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/>
            <a:r>
              <a:rPr lang="en-SG" sz="3000" b="1" dirty="0">
                <a:solidFill>
                  <a:schemeClr val="tx1"/>
                </a:solidFill>
                <a:latin typeface="Catamaran" panose="020B0604020202020204" charset="0"/>
                <a:cs typeface="Catamaran" panose="020B0604020202020204" charset="0"/>
              </a:rPr>
              <a:t>class </a:t>
            </a:r>
            <a:r>
              <a:rPr lang="en-SG" sz="3000" b="1" dirty="0" smtClean="0">
                <a:solidFill>
                  <a:schemeClr val="tx1"/>
                </a:solidFill>
                <a:latin typeface="Catamaran" panose="020B0604020202020204" charset="0"/>
                <a:cs typeface="Catamaran" panose="020B0604020202020204" charset="0"/>
              </a:rPr>
              <a:t>list</a:t>
            </a:r>
            <a:endParaRPr lang="en-SG" sz="3000" b="1" dirty="0">
              <a:solidFill>
                <a:schemeClr val="tx1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37589" y="2345716"/>
            <a:ext cx="8732653" cy="911160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59048" y="2611368"/>
            <a:ext cx="100658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dirty="0" smtClean="0"/>
              <a:t>………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6507575" y="2530001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009245" y="2528291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230161" y="251630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70482" y="2526581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591398" y="251459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2802034" y="2512887"/>
            <a:ext cx="1059937" cy="522503"/>
          </a:xfrm>
          <a:prstGeom prst="rect">
            <a:avLst/>
          </a:prstGeom>
          <a:noFill/>
          <a:ln>
            <a:solidFill>
              <a:srgbClr val="20208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84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Linked 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88393" y="2413814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87036" y="2413813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585679" y="2413812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282609" y="2413812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4981252" y="2413811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5679895" y="2413810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188393" y="1756881"/>
            <a:ext cx="0" cy="6569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032523" y="1430367"/>
            <a:ext cx="854513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None/>
            </a:pPr>
            <a:r>
              <a:rPr lang="en-US" dirty="0" smtClean="0"/>
              <a:t>Start</a:t>
            </a:r>
            <a:endParaRPr dirty="0"/>
          </a:p>
        </p:txBody>
      </p:sp>
      <p:sp>
        <p:nvSpPr>
          <p:cNvPr id="7" name="Left Brace 6"/>
          <p:cNvSpPr/>
          <p:nvPr/>
        </p:nvSpPr>
        <p:spPr>
          <a:xfrm rot="16200000">
            <a:off x="2382289" y="3638367"/>
            <a:ext cx="310856" cy="6986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3" name="Left Brace 22"/>
          <p:cNvSpPr/>
          <p:nvPr/>
        </p:nvSpPr>
        <p:spPr>
          <a:xfrm rot="16200000">
            <a:off x="3079219" y="3636657"/>
            <a:ext cx="310856" cy="6986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4" name="Left Brace 23"/>
          <p:cNvSpPr/>
          <p:nvPr/>
        </p:nvSpPr>
        <p:spPr>
          <a:xfrm rot="16200000">
            <a:off x="3786420" y="3634947"/>
            <a:ext cx="310856" cy="6986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5" name="Left Brace 24"/>
          <p:cNvSpPr/>
          <p:nvPr/>
        </p:nvSpPr>
        <p:spPr>
          <a:xfrm rot="16200000">
            <a:off x="4486777" y="3636657"/>
            <a:ext cx="310856" cy="69864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8" name="Left Brace 27"/>
          <p:cNvSpPr/>
          <p:nvPr/>
        </p:nvSpPr>
        <p:spPr>
          <a:xfrm rot="16200000">
            <a:off x="3452236" y="4375963"/>
            <a:ext cx="260044" cy="50828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r"/>
            <a:endParaRPr lang="en-US" dirty="0"/>
          </a:p>
        </p:txBody>
      </p:sp>
      <p:sp>
        <p:nvSpPr>
          <p:cNvPr id="2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567069" y="4428121"/>
            <a:ext cx="1922737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Start +            x 4 = </a:t>
            </a:r>
            <a:endParaRPr dirty="0"/>
          </a:p>
        </p:txBody>
      </p:sp>
      <p:cxnSp>
        <p:nvCxnSpPr>
          <p:cNvPr id="9" name="Curved Connector 8"/>
          <p:cNvCxnSpPr>
            <a:stCxn id="29" idx="3"/>
          </p:cNvCxnSpPr>
          <p:nvPr/>
        </p:nvCxnSpPr>
        <p:spPr>
          <a:xfrm flipV="1">
            <a:off x="4489806" y="3656983"/>
            <a:ext cx="491446" cy="106204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4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Linked 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-699264"/>
            <a:ext cx="2484967" cy="2484967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962127"/>
              </p:ext>
            </p:extLst>
          </p:nvPr>
        </p:nvGraphicFramePr>
        <p:xfrm>
          <a:off x="779074" y="1551140"/>
          <a:ext cx="3973788" cy="2727431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567684"/>
                <a:gridCol w="567684"/>
                <a:gridCol w="567684"/>
                <a:gridCol w="567684"/>
                <a:gridCol w="567684"/>
                <a:gridCol w="567684"/>
                <a:gridCol w="567684"/>
              </a:tblGrid>
              <a:tr h="3896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04180" y="1430367"/>
            <a:ext cx="4239820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So </a:t>
            </a:r>
            <a:r>
              <a:rPr lang="en-US" dirty="0"/>
              <a:t>when we create a list, Python needs to find an empty chunk of memory that can comfortably accommodate a list that will potentially grow. </a:t>
            </a:r>
            <a:endParaRPr lang="en-US" dirty="0" smtClean="0"/>
          </a:p>
          <a:p>
            <a:pPr marL="342900" indent="-342900"/>
            <a:r>
              <a:rPr lang="en-US" dirty="0" smtClean="0"/>
              <a:t>Let's </a:t>
            </a:r>
            <a:r>
              <a:rPr lang="en-US" dirty="0"/>
              <a:t>say we assume our list will hold no more than eight items, so we find a chunk of memory that's big enough to hold those eight items. </a:t>
            </a:r>
            <a:endParaRPr lang="en-US" dirty="0" smtClean="0"/>
          </a:p>
          <a:p>
            <a:pPr marL="342900" indent="-342900"/>
            <a:r>
              <a:rPr lang="en-US" dirty="0" smtClean="0"/>
              <a:t>it's </a:t>
            </a:r>
            <a:r>
              <a:rPr lang="en-US" dirty="0"/>
              <a:t>super fast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7755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Linked 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-699264"/>
            <a:ext cx="2484967" cy="2484967"/>
          </a:xfrm>
          <a:prstGeom prst="rect">
            <a:avLst/>
          </a:prstGeom>
        </p:spPr>
      </p:pic>
      <p:sp>
        <p:nvSpPr>
          <p:cNvPr id="11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47273" y="1430367"/>
            <a:ext cx="8496728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But </a:t>
            </a:r>
            <a:r>
              <a:rPr lang="en-US" dirty="0"/>
              <a:t>what happens when we keep adding to that list and it gets too big for its current space? </a:t>
            </a:r>
            <a:endParaRPr lang="en-US" dirty="0" smtClean="0"/>
          </a:p>
          <a:p>
            <a:pPr marL="342900" indent="-342900"/>
            <a:r>
              <a:rPr lang="en-US" dirty="0" smtClean="0"/>
              <a:t>Well</a:t>
            </a:r>
            <a:r>
              <a:rPr lang="en-US" dirty="0"/>
              <a:t>, the list needs to be </a:t>
            </a:r>
            <a:r>
              <a:rPr lang="en-US" dirty="0" smtClean="0"/>
              <a:t>moved</a:t>
            </a:r>
          </a:p>
          <a:p>
            <a:pPr marL="342900" indent="-342900"/>
            <a:r>
              <a:rPr lang="en-US" dirty="0" smtClean="0"/>
              <a:t>This </a:t>
            </a:r>
            <a:r>
              <a:rPr lang="en-US" dirty="0"/>
              <a:t>requires moving every single value from the old list to the new and bigger list, and this operation takes a lot of </a:t>
            </a:r>
            <a:r>
              <a:rPr lang="en-US" dirty="0" smtClean="0"/>
              <a:t>time</a:t>
            </a:r>
          </a:p>
          <a:p>
            <a:pPr marL="342900" indent="-342900"/>
            <a:r>
              <a:rPr lang="en-US" dirty="0" smtClean="0"/>
              <a:t>The </a:t>
            </a:r>
            <a:r>
              <a:rPr lang="en-US" dirty="0"/>
              <a:t>eighth item added to the list is </a:t>
            </a:r>
            <a:r>
              <a:rPr lang="en-US" dirty="0" smtClean="0"/>
              <a:t>fast</a:t>
            </a:r>
          </a:p>
          <a:p>
            <a:pPr marL="342900" indent="-342900"/>
            <a:r>
              <a:rPr lang="en-US" dirty="0" smtClean="0"/>
              <a:t>ninth </a:t>
            </a:r>
            <a:r>
              <a:rPr lang="en-US" dirty="0"/>
              <a:t>item takes a very, very, very long time, longer than if we had just allocated the right amount of space for our list in the first place.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2008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416514" y="1954402"/>
            <a:ext cx="4537180" cy="7675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b="1" dirty="0" err="1" smtClean="0"/>
              <a:t>myNumberArray</a:t>
            </a:r>
            <a:r>
              <a:rPr lang="en-SG" b="1" dirty="0" smtClean="0"/>
              <a:t> = new </a:t>
            </a:r>
            <a:r>
              <a:rPr lang="en-SG" b="1" dirty="0" err="1" smtClean="0"/>
              <a:t>int</a:t>
            </a:r>
            <a:r>
              <a:rPr lang="en-SG" b="1" dirty="0" smtClean="0"/>
              <a:t>[20];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Array Declaration in Java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1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98" y="2676504"/>
            <a:ext cx="8250186" cy="7675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declare </a:t>
            </a:r>
            <a:r>
              <a:rPr lang="en-US" dirty="0"/>
              <a:t>the maximum number of things your list will hold </a:t>
            </a:r>
            <a:r>
              <a:rPr lang="en-US" dirty="0" smtClean="0"/>
              <a:t>upfront</a:t>
            </a:r>
          </a:p>
          <a:p>
            <a:pPr marL="342900" indent="-342900"/>
            <a:r>
              <a:rPr lang="en-US" dirty="0" smtClean="0"/>
              <a:t>For </a:t>
            </a:r>
            <a:r>
              <a:rPr lang="en-US" dirty="0"/>
              <a:t>example, this array declaration in </a:t>
            </a:r>
            <a:r>
              <a:rPr lang="en-US" dirty="0" smtClean="0"/>
              <a:t>Java</a:t>
            </a:r>
          </a:p>
          <a:p>
            <a:pPr marL="342900" indent="-342900"/>
            <a:r>
              <a:rPr lang="en-US" dirty="0" smtClean="0"/>
              <a:t>This </a:t>
            </a:r>
            <a:r>
              <a:rPr lang="en-US" dirty="0"/>
              <a:t>is declaring a new integer array, the Java version of a list, that is 20 integer </a:t>
            </a:r>
            <a:r>
              <a:rPr lang="en-US" dirty="0" smtClean="0"/>
              <a:t>long</a:t>
            </a:r>
          </a:p>
          <a:p>
            <a:pPr marL="342900" indent="-342900"/>
            <a:r>
              <a:rPr lang="en-US" dirty="0" smtClean="0"/>
              <a:t>That </a:t>
            </a:r>
            <a:r>
              <a:rPr lang="en-US" dirty="0"/>
              <a:t>way, it never has to reallocate memory or move it around. You can tell upfront how big the list is going to be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693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99" y="3063226"/>
            <a:ext cx="7701509" cy="158547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we </a:t>
            </a:r>
            <a:r>
              <a:rPr lang="en-US" dirty="0"/>
              <a:t>run into issues if you delete items from the middle of a list. If an item is deleted, you have to take all of the following items and move them one by one. And this is a problem that the Python tuple has solved very nicely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Linked </a:t>
            </a:r>
            <a:r>
              <a:rPr lang="en-SG" dirty="0" smtClean="0"/>
              <a:t>List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20246"/>
              </p:ext>
            </p:extLst>
          </p:nvPr>
        </p:nvGraphicFramePr>
        <p:xfrm>
          <a:off x="1389323" y="1803904"/>
          <a:ext cx="6095997" cy="785183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78518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22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3852812"/>
            <a:ext cx="7701509" cy="10954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we </a:t>
            </a:r>
            <a:r>
              <a:rPr lang="en-US" dirty="0"/>
              <a:t>run into issues if you delete items from the middle of a list</a:t>
            </a:r>
            <a:r>
              <a:rPr lang="en-US" dirty="0" smtClean="0"/>
              <a:t>.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Linked </a:t>
            </a:r>
            <a:r>
              <a:rPr lang="en-SG" dirty="0" smtClean="0"/>
              <a:t>List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86315"/>
              </p:ext>
            </p:extLst>
          </p:nvPr>
        </p:nvGraphicFramePr>
        <p:xfrm>
          <a:off x="1389323" y="1516231"/>
          <a:ext cx="6095997" cy="785183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78518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398882"/>
              </p:ext>
            </p:extLst>
          </p:nvPr>
        </p:nvGraphicFramePr>
        <p:xfrm>
          <a:off x="1387613" y="2572757"/>
          <a:ext cx="6095997" cy="785183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78518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07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3750072"/>
            <a:ext cx="7701509" cy="10954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/>
              <a:t>If an item is deleted, you have to take all of the following items and move them one by one. And this is a problem that the Python tuple has solved very nicely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Linked </a:t>
            </a:r>
            <a:r>
              <a:rPr lang="en-SG" dirty="0" smtClean="0"/>
              <a:t>List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976127"/>
              </p:ext>
            </p:extLst>
          </p:nvPr>
        </p:nvGraphicFramePr>
        <p:xfrm>
          <a:off x="1389323" y="1516231"/>
          <a:ext cx="6095997" cy="785183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78518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8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385655"/>
              </p:ext>
            </p:extLst>
          </p:nvPr>
        </p:nvGraphicFramePr>
        <p:xfrm>
          <a:off x="1387613" y="2572757"/>
          <a:ext cx="6095997" cy="785183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  <a:gridCol w="677333"/>
              </a:tblGrid>
              <a:tr h="785183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SG" dirty="0" smtClean="0"/>
                        <a:t>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031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1763900"/>
            <a:ext cx="7701509" cy="58181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b="1" dirty="0" err="1" smtClean="0"/>
              <a:t>myTuple</a:t>
            </a:r>
            <a:r>
              <a:rPr lang="en-SG" b="1" dirty="0" smtClean="0"/>
              <a:t> = (1, 2, 3)</a:t>
            </a:r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Tuple Declaration in Python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3" y="2549994"/>
            <a:ext cx="7701509" cy="10954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Simply </a:t>
            </a:r>
            <a:r>
              <a:rPr lang="en-US" dirty="0"/>
              <a:t>never let people add or remove items. You declare exactly how big it will ever </a:t>
            </a:r>
            <a:r>
              <a:rPr lang="en-US" dirty="0" smtClean="0"/>
              <a:t>be, </a:t>
            </a:r>
            <a:r>
              <a:rPr lang="en-US" dirty="0"/>
              <a:t>but you can't add or remove them</a:t>
            </a:r>
          </a:p>
        </p:txBody>
      </p:sp>
    </p:spTree>
    <p:extLst>
      <p:ext uri="{BB962C8B-B14F-4D97-AF65-F5344CB8AC3E}">
        <p14:creationId xmlns:p14="http://schemas.microsoft.com/office/powerpoint/2010/main" val="251975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827094" y="602917"/>
            <a:ext cx="4306634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what </a:t>
            </a:r>
            <a:r>
              <a:rPr lang="en-US" dirty="0"/>
              <a:t>if when you ran out of memory, you just added a little note that said hey, the list continues over here in this block, and then you continue on with your </a:t>
            </a:r>
            <a:r>
              <a:rPr lang="en-US" dirty="0" smtClean="0"/>
              <a:t>list</a:t>
            </a:r>
          </a:p>
          <a:p>
            <a:pPr marL="342900" indent="-342900"/>
            <a:r>
              <a:rPr lang="en-US" dirty="0" smtClean="0"/>
              <a:t>Now</a:t>
            </a:r>
            <a:r>
              <a:rPr lang="en-US" dirty="0"/>
              <a:t>, one problem is that if you want to jump to the </a:t>
            </a:r>
            <a:r>
              <a:rPr lang="en-US" dirty="0" err="1"/>
              <a:t>the</a:t>
            </a:r>
            <a:r>
              <a:rPr lang="en-US" dirty="0"/>
              <a:t> last element of the list, you have to jump to the end of this one first, read the address where it continues, and then jump to the next </a:t>
            </a:r>
            <a:r>
              <a:rPr lang="en-US" dirty="0" smtClean="0"/>
              <a:t>list</a:t>
            </a:r>
          </a:p>
          <a:p>
            <a:pPr marL="342900" indent="-342900"/>
            <a:r>
              <a:rPr lang="en-US" dirty="0" smtClean="0"/>
              <a:t>You </a:t>
            </a:r>
            <a:r>
              <a:rPr lang="en-US" dirty="0"/>
              <a:t>can't just jump straight to the segment of memory that you want. </a:t>
            </a:r>
            <a:endParaRPr lang="en-SG"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-802001"/>
            <a:ext cx="2484967" cy="248496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557863"/>
              </p:ext>
            </p:extLst>
          </p:nvPr>
        </p:nvGraphicFramePr>
        <p:xfrm>
          <a:off x="779074" y="1551140"/>
          <a:ext cx="3973788" cy="2727431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567684"/>
                <a:gridCol w="567684"/>
                <a:gridCol w="567684"/>
                <a:gridCol w="567684"/>
                <a:gridCol w="567684"/>
                <a:gridCol w="567684"/>
                <a:gridCol w="567684"/>
              </a:tblGrid>
              <a:tr h="38963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5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6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7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8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9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10</a:t>
                      </a:r>
                      <a:endParaRPr 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</a:tr>
              <a:tr h="38963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>
          <a:xfrm flipH="1">
            <a:off x="1674688" y="2496620"/>
            <a:ext cx="513708" cy="1139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783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827094" y="1548135"/>
            <a:ext cx="4306634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/>
              <a:t>What if every single element simply had a pointer to where the next element </a:t>
            </a:r>
            <a:r>
              <a:rPr lang="en-US" dirty="0" smtClean="0"/>
              <a:t>was? </a:t>
            </a:r>
          </a:p>
          <a:p>
            <a:pPr marL="342900" indent="-342900"/>
            <a:r>
              <a:rPr lang="en-US" dirty="0" smtClean="0"/>
              <a:t>When </a:t>
            </a:r>
            <a:r>
              <a:rPr lang="en-US" dirty="0"/>
              <a:t>you declare a new list, then you never need to allocate more than one chunk of memory because the next item could be </a:t>
            </a:r>
            <a:r>
              <a:rPr lang="en-US" dirty="0" smtClean="0"/>
              <a:t>stored here and there</a:t>
            </a:r>
          </a:p>
          <a:p>
            <a:pPr marL="342900" indent="-342900"/>
            <a:endParaRPr lang="en-SG"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-802001"/>
            <a:ext cx="2484967" cy="248496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56323"/>
              </p:ext>
            </p:extLst>
          </p:nvPr>
        </p:nvGraphicFramePr>
        <p:xfrm>
          <a:off x="779074" y="1551140"/>
          <a:ext cx="3973788" cy="2727431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567684"/>
                <a:gridCol w="567684"/>
                <a:gridCol w="567684"/>
                <a:gridCol w="567684"/>
                <a:gridCol w="567684"/>
                <a:gridCol w="567684"/>
                <a:gridCol w="567684"/>
              </a:tblGrid>
              <a:tr h="3896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>
          <a:xfrm>
            <a:off x="1695236" y="2229492"/>
            <a:ext cx="834922" cy="65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765968" y="2229492"/>
            <a:ext cx="0" cy="554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847157" y="2229492"/>
            <a:ext cx="937193" cy="99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847157" y="3462649"/>
            <a:ext cx="937193" cy="60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32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827094" y="1548137"/>
            <a:ext cx="4306634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You </a:t>
            </a:r>
            <a:r>
              <a:rPr lang="en-US" dirty="0"/>
              <a:t>can trivially, add and delete items from the list without having to rearrange anything </a:t>
            </a:r>
            <a:r>
              <a:rPr lang="en-US" dirty="0" smtClean="0"/>
              <a:t>else</a:t>
            </a:r>
          </a:p>
          <a:p>
            <a:pPr marL="342900" indent="-342900"/>
            <a:r>
              <a:rPr lang="en-US" dirty="0" smtClean="0"/>
              <a:t>You </a:t>
            </a:r>
            <a:r>
              <a:rPr lang="en-US" dirty="0"/>
              <a:t>just skip over the node you want to remove, and everything else can stay in </a:t>
            </a:r>
            <a:r>
              <a:rPr lang="en-US" dirty="0" smtClean="0"/>
              <a:t>place</a:t>
            </a:r>
          </a:p>
          <a:p>
            <a:pPr marL="342900" indent="-342900"/>
            <a:r>
              <a:rPr lang="en-US" dirty="0" smtClean="0"/>
              <a:t>The </a:t>
            </a:r>
            <a:r>
              <a:rPr lang="en-US" dirty="0"/>
              <a:t>only thing you give up is your ability to jump to any random index in the list</a:t>
            </a:r>
            <a:endParaRPr lang="en-SG"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Lists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-802001"/>
            <a:ext cx="2484967" cy="2484967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456323"/>
              </p:ext>
            </p:extLst>
          </p:nvPr>
        </p:nvGraphicFramePr>
        <p:xfrm>
          <a:off x="779074" y="1551140"/>
          <a:ext cx="3973788" cy="2727431"/>
        </p:xfrm>
        <a:graphic>
          <a:graphicData uri="http://schemas.openxmlformats.org/drawingml/2006/table">
            <a:tbl>
              <a:tblPr firstRow="1" bandRow="1">
                <a:tableStyleId>{93EC2C83-4F27-46E9-AB52-EA9CB43B9D6F}</a:tableStyleId>
              </a:tblPr>
              <a:tblGrid>
                <a:gridCol w="567684"/>
                <a:gridCol w="567684"/>
                <a:gridCol w="567684"/>
                <a:gridCol w="567684"/>
                <a:gridCol w="567684"/>
                <a:gridCol w="567684"/>
                <a:gridCol w="567684"/>
              </a:tblGrid>
              <a:tr h="3896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0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2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1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3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89633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 smtClean="0"/>
                        <a:t>4</a:t>
                      </a:r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3" name="Straight Arrow Connector 2"/>
          <p:cNvCxnSpPr/>
          <p:nvPr/>
        </p:nvCxnSpPr>
        <p:spPr>
          <a:xfrm>
            <a:off x="1695236" y="2229492"/>
            <a:ext cx="834922" cy="6575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2765968" y="2229492"/>
            <a:ext cx="0" cy="554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2847157" y="2229492"/>
            <a:ext cx="937193" cy="996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2847157" y="3462649"/>
            <a:ext cx="937193" cy="6059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023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427500" y="1879355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1603433" y="205634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0</a:t>
            </a:r>
            <a:endParaRPr lang="en-SG" sz="4000" b="1"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6010500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Linked List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-802001"/>
            <a:ext cx="2484967" cy="2484967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3117683" y="1879355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Google Shape;272;p19"/>
          <p:cNvSpPr txBox="1">
            <a:spLocks noGrp="1"/>
          </p:cNvSpPr>
          <p:nvPr>
            <p:ph type="body" idx="1"/>
          </p:nvPr>
        </p:nvSpPr>
        <p:spPr>
          <a:xfrm>
            <a:off x="3293616" y="205634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1</a:t>
            </a:r>
          </a:p>
        </p:txBody>
      </p:sp>
      <p:sp>
        <p:nvSpPr>
          <p:cNvPr id="19" name="Oval 18"/>
          <p:cNvSpPr/>
          <p:nvPr/>
        </p:nvSpPr>
        <p:spPr>
          <a:xfrm>
            <a:off x="4807866" y="1875276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83799" y="2052270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2</a:t>
            </a:r>
          </a:p>
        </p:txBody>
      </p:sp>
      <p:sp>
        <p:nvSpPr>
          <p:cNvPr id="21" name="Oval 20"/>
          <p:cNvSpPr/>
          <p:nvPr/>
        </p:nvSpPr>
        <p:spPr>
          <a:xfrm>
            <a:off x="6498049" y="1880093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673982" y="2057087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3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19910" y="2320212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Arrow 25"/>
          <p:cNvSpPr/>
          <p:nvPr/>
        </p:nvSpPr>
        <p:spPr>
          <a:xfrm>
            <a:off x="4327088" y="2298733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Arrow 26"/>
          <p:cNvSpPr/>
          <p:nvPr/>
        </p:nvSpPr>
        <p:spPr>
          <a:xfrm>
            <a:off x="6000276" y="2298732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677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1601062"/>
            <a:ext cx="7701509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SG" dirty="0" smtClean="0"/>
              <a:t>Rendering </a:t>
            </a:r>
            <a:r>
              <a:rPr lang="en-SG" dirty="0"/>
              <a:t>a</a:t>
            </a:r>
            <a:r>
              <a:rPr lang="en-SG" dirty="0" smtClean="0"/>
              <a:t>nimation frames</a:t>
            </a:r>
          </a:p>
          <a:p>
            <a:pPr marL="342900" indent="-342900"/>
            <a:r>
              <a:rPr lang="en-SG" dirty="0" smtClean="0"/>
              <a:t>“Undo” functionality in a document editor</a:t>
            </a:r>
          </a:p>
          <a:p>
            <a:pPr marL="342900" indent="-342900"/>
            <a:endParaRPr lang="en-SG" dirty="0"/>
          </a:p>
          <a:p>
            <a:pPr marL="342900" indent="-342900"/>
            <a:r>
              <a:rPr lang="en-SG" dirty="0" smtClean="0"/>
              <a:t>What about “Redo” functionality?</a:t>
            </a:r>
          </a:p>
          <a:p>
            <a:pPr marL="342900" indent="-342900"/>
            <a:endParaRPr lang="en-SG" dirty="0" smtClean="0"/>
          </a:p>
          <a:p>
            <a:pPr marL="342900" indent="-342900"/>
            <a:r>
              <a:rPr lang="en-US" dirty="0" smtClean="0"/>
              <a:t>Any situation </a:t>
            </a:r>
            <a:r>
              <a:rPr lang="en-US" dirty="0"/>
              <a:t>in which you never need to jump directly to an arbitrary index and where you really only care about the current and the next element, a linked list may be </a:t>
            </a:r>
            <a:r>
              <a:rPr lang="en-US" dirty="0" smtClean="0"/>
              <a:t>ideal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Applications of Linked Lists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305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5980" y="1862459"/>
            <a:ext cx="6148137" cy="1229657"/>
          </a:xfrm>
        </p:spPr>
        <p:txBody>
          <a:bodyPr/>
          <a:lstStyle/>
          <a:p>
            <a:pPr marL="127000" indent="0">
              <a:buNone/>
            </a:pPr>
            <a:r>
              <a:rPr lang="en-SG" sz="4000" b="1" dirty="0" smtClean="0"/>
              <a:t>Let’s write the linked list program 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3525253" y="463887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tamaran Thin" panose="020B0604020202020204" charset="0"/>
                <a:cs typeface="Catamaran Thin" panose="020B0604020202020204" charset="0"/>
              </a:rPr>
              <a:t>Go to exercise 1</a:t>
            </a:r>
            <a:endParaRPr lang="en-US" dirty="0">
              <a:solidFill>
                <a:srgbClr val="FFFFFF"/>
              </a:solidFill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419" y="3199913"/>
            <a:ext cx="2506405" cy="250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582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/>
          <p:cNvSpPr/>
          <p:nvPr/>
        </p:nvSpPr>
        <p:spPr>
          <a:xfrm>
            <a:off x="5044226" y="2333529"/>
            <a:ext cx="3534310" cy="10759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955497" y="3673915"/>
            <a:ext cx="4156245" cy="10759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955498" y="2335084"/>
            <a:ext cx="3534310" cy="107593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1558418"/>
            <a:ext cx="7701509" cy="776666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1. What </a:t>
            </a:r>
            <a:r>
              <a:rPr lang="en-US" dirty="0" smtClean="0"/>
              <a:t>code leaves the value “current” pointing to the last node of a non-empty list?</a:t>
            </a:r>
            <a:endParaRPr lang="en-US" dirty="0"/>
          </a:p>
          <a:p>
            <a:pPr marL="342900" indent="-342900"/>
            <a:endParaRPr lang="en-SG" dirty="0" smtClean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7701484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Quiz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47068"/>
            <a:ext cx="2484967" cy="24849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3450" y="2460044"/>
            <a:ext cx="77014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 =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current.head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while </a:t>
            </a:r>
            <a:r>
              <a:rPr lang="en-US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current.next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current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current.next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111743" y="2460044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current = </a:t>
            </a:r>
            <a:r>
              <a:rPr lang="en-US" b="1" dirty="0" err="1" smtClean="0">
                <a:latin typeface="Courier New" panose="02070309020205020404" pitchFamily="49" charset="0"/>
              </a:rPr>
              <a:t>current.head</a:t>
            </a:r>
            <a:endParaRPr lang="en-US" b="1" dirty="0" smtClean="0">
              <a:latin typeface="Courier New" panose="02070309020205020404" pitchFamily="49" charset="0"/>
            </a:endParaRPr>
          </a:p>
          <a:p>
            <a:r>
              <a:rPr lang="en-US" b="1" dirty="0" smtClean="0">
                <a:latin typeface="Courier New" panose="02070309020205020404" pitchFamily="49" charset="0"/>
              </a:rPr>
              <a:t>while </a:t>
            </a:r>
            <a:r>
              <a:rPr lang="en-US" b="1" dirty="0">
                <a:latin typeface="Courier New" panose="02070309020205020404" pitchFamily="49" charset="0"/>
              </a:rPr>
              <a:t>current: </a:t>
            </a:r>
            <a:endParaRPr lang="en-US" b="1" dirty="0" smtClean="0">
              <a:latin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</a:rPr>
              <a:t>       current </a:t>
            </a:r>
            <a:r>
              <a:rPr lang="en-US" b="1" dirty="0">
                <a:latin typeface="Courier New" panose="02070309020205020404" pitchFamily="49" charset="0"/>
              </a:rPr>
              <a:t>= </a:t>
            </a:r>
            <a:r>
              <a:rPr lang="en-US" b="1" dirty="0" err="1">
                <a:latin typeface="Courier New" panose="02070309020205020404" pitchFamily="49" charset="0"/>
              </a:rPr>
              <a:t>current.next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>
            <a:off x="1053450" y="3903232"/>
            <a:ext cx="4572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current = </a:t>
            </a:r>
            <a:r>
              <a:rPr lang="en-US" b="1" dirty="0" err="1">
                <a:latin typeface="Courier New" panose="02070309020205020404" pitchFamily="49" charset="0"/>
              </a:rPr>
              <a:t>current.head</a:t>
            </a:r>
            <a:r>
              <a:rPr lang="en-US" b="1" dirty="0">
                <a:latin typeface="Courier New" panose="02070309020205020404" pitchFamily="49" charset="0"/>
              </a:rPr>
              <a:t> </a:t>
            </a:r>
            <a:endParaRPr lang="en-US" b="1" dirty="0" smtClean="0">
              <a:latin typeface="Courier New" panose="02070309020205020404" pitchFamily="49" charset="0"/>
            </a:endParaRPr>
          </a:p>
          <a:p>
            <a:r>
              <a:rPr lang="en-US" b="1" dirty="0" smtClean="0">
                <a:latin typeface="Courier New" panose="02070309020205020404" pitchFamily="49" charset="0"/>
              </a:rPr>
              <a:t>while </a:t>
            </a:r>
            <a:r>
              <a:rPr lang="en-US" b="1" dirty="0" err="1" smtClean="0">
                <a:latin typeface="Courier New" panose="02070309020205020404" pitchFamily="49" charset="0"/>
              </a:rPr>
              <a:t>current.next</a:t>
            </a:r>
            <a:r>
              <a:rPr lang="en-US" b="1" dirty="0" smtClean="0">
                <a:latin typeface="Courier New" panose="02070309020205020404" pitchFamily="49" charset="0"/>
              </a:rPr>
              <a:t>:</a:t>
            </a:r>
          </a:p>
          <a:p>
            <a:r>
              <a:rPr lang="en-US" b="1" dirty="0"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</a:rPr>
              <a:t>       current </a:t>
            </a:r>
            <a:r>
              <a:rPr lang="en-US" b="1" dirty="0">
                <a:latin typeface="Courier New" panose="02070309020205020404" pitchFamily="49" charset="0"/>
              </a:rPr>
              <a:t>= </a:t>
            </a:r>
            <a:r>
              <a:rPr lang="en-US" b="1" dirty="0" err="1">
                <a:latin typeface="Courier New" panose="02070309020205020404" pitchFamily="49" charset="0"/>
              </a:rPr>
              <a:t>current.next.next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23770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/>
        </p:nvSpPr>
        <p:spPr>
          <a:xfrm>
            <a:off x="1253447" y="1482328"/>
            <a:ext cx="4982965" cy="126087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1558417"/>
            <a:ext cx="7701509" cy="23984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596900" indent="-457200">
              <a:buFont typeface="+mj-lt"/>
              <a:buAutoNum type="arabicPeriod"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current 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current.head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39700" indent="0">
              <a:buNone/>
            </a:pP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while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current.next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marL="13970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     current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current.next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457200">
              <a:buFont typeface="+mj-lt"/>
              <a:buAutoNum type="arabicPeriod"/>
            </a:pPr>
            <a:endParaRPr lang="en-US" b="1" dirty="0" smtClean="0"/>
          </a:p>
          <a:p>
            <a:pPr marL="342900" indent="-342900"/>
            <a:endParaRPr lang="en-SG" b="1" dirty="0" smtClean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7701484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Quiz Answers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47068"/>
            <a:ext cx="2484967" cy="2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433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5980" y="1862459"/>
            <a:ext cx="6148137" cy="1229657"/>
          </a:xfrm>
        </p:spPr>
        <p:txBody>
          <a:bodyPr/>
          <a:lstStyle/>
          <a:p>
            <a:pPr marL="127000" indent="0">
              <a:buNone/>
            </a:pPr>
            <a:r>
              <a:rPr lang="en-SG" sz="4000" b="1" dirty="0" smtClean="0"/>
              <a:t>Let’s write the linked list </a:t>
            </a:r>
            <a:r>
              <a:rPr lang="en-SG" sz="4000" b="1" dirty="0" smtClean="0"/>
              <a:t>searching </a:t>
            </a:r>
            <a:r>
              <a:rPr lang="en-SG" sz="4000" b="1" dirty="0" smtClean="0"/>
              <a:t>program 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3525253" y="463887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tamaran Thin" panose="020B0604020202020204" charset="0"/>
                <a:cs typeface="Catamaran Thin" panose="020B0604020202020204" charset="0"/>
              </a:rPr>
              <a:t>Go to exercise 2</a:t>
            </a:r>
            <a:endParaRPr lang="en-US" dirty="0">
              <a:solidFill>
                <a:srgbClr val="FFFFFF"/>
              </a:solidFill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419" y="3199913"/>
            <a:ext cx="2506405" cy="250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18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1601062"/>
            <a:ext cx="7701509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SG" dirty="0" smtClean="0"/>
              <a:t>Not a robust solution</a:t>
            </a:r>
          </a:p>
          <a:p>
            <a:pPr marL="342900" indent="-342900"/>
            <a:r>
              <a:rPr lang="en-SG" dirty="0" smtClean="0"/>
              <a:t>Stacks take time and memory to create</a:t>
            </a:r>
            <a:endParaRPr dirty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Increasing Recursion Limit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20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5980" y="1862459"/>
            <a:ext cx="6148137" cy="1229657"/>
          </a:xfrm>
        </p:spPr>
        <p:txBody>
          <a:bodyPr/>
          <a:lstStyle/>
          <a:p>
            <a:pPr marL="127000" indent="0">
              <a:buNone/>
            </a:pPr>
            <a:r>
              <a:rPr lang="en-SG" sz="4000" b="1" dirty="0" smtClean="0"/>
              <a:t>Let’s write the linked list </a:t>
            </a:r>
            <a:r>
              <a:rPr lang="en-SG" sz="4000" b="1" dirty="0" smtClean="0"/>
              <a:t>deleting </a:t>
            </a:r>
            <a:r>
              <a:rPr lang="en-SG" sz="4000" b="1" dirty="0" smtClean="0"/>
              <a:t>program 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3525253" y="463887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tamaran Thin" panose="020B0604020202020204" charset="0"/>
                <a:cs typeface="Catamaran Thin" panose="020B0604020202020204" charset="0"/>
              </a:rPr>
              <a:t>Go to exercise </a:t>
            </a:r>
            <a:r>
              <a:rPr lang="en-US" dirty="0" smtClean="0">
                <a:solidFill>
                  <a:srgbClr val="FFFFFF"/>
                </a:solidFill>
                <a:latin typeface="Catamaran Thin" panose="020B0604020202020204" charset="0"/>
                <a:cs typeface="Catamaran Thin" panose="020B0604020202020204" charset="0"/>
              </a:rPr>
              <a:t>3</a:t>
            </a:r>
            <a:endParaRPr lang="en-US" dirty="0">
              <a:solidFill>
                <a:srgbClr val="FFFFFF"/>
              </a:solidFill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419" y="3199913"/>
            <a:ext cx="2506405" cy="250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131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Insert a Node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427500" y="2732114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272;p19"/>
          <p:cNvSpPr txBox="1">
            <a:spLocks noGrp="1"/>
          </p:cNvSpPr>
          <p:nvPr>
            <p:ph type="body" idx="1"/>
          </p:nvPr>
        </p:nvSpPr>
        <p:spPr>
          <a:xfrm>
            <a:off x="1603433" y="290910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0</a:t>
            </a:r>
            <a:endParaRPr lang="en-SG" sz="4000" b="1" dirty="0"/>
          </a:p>
        </p:txBody>
      </p:sp>
      <p:sp>
        <p:nvSpPr>
          <p:cNvPr id="14" name="Oval 13"/>
          <p:cNvSpPr/>
          <p:nvPr/>
        </p:nvSpPr>
        <p:spPr>
          <a:xfrm>
            <a:off x="3117683" y="2732114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3293616" y="290910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807866" y="2728035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83799" y="290502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6498049" y="2732852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673982" y="2909846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3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619910" y="3172971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>
            <a:off x="4327088" y="3151492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6000276" y="3151491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934122" y="1236816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110055" y="1413810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4</a:t>
            </a:r>
            <a:endParaRPr lang="en-SG" sz="4000" b="1" dirty="0"/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4479533" y="2515860"/>
            <a:ext cx="10274" cy="568616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/>
          <p:cNvCxnSpPr>
            <a:stCxn id="23" idx="2"/>
          </p:cNvCxnSpPr>
          <p:nvPr/>
        </p:nvCxnSpPr>
        <p:spPr>
          <a:xfrm rot="10800000" flipV="1">
            <a:off x="1078788" y="1787840"/>
            <a:ext cx="2855335" cy="1653075"/>
          </a:xfrm>
          <a:prstGeom prst="curvedConnector3">
            <a:avLst>
              <a:gd name="adj1" fmla="val 99656"/>
            </a:avLst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941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Insert a Node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24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157401" y="3345354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1</a:t>
            </a:r>
            <a:endParaRPr lang="en-SG" sz="4000" b="1" dirty="0"/>
          </a:p>
        </p:txBody>
      </p:sp>
      <p:sp>
        <p:nvSpPr>
          <p:cNvPr id="29" name="Rectangle 28"/>
          <p:cNvSpPr/>
          <p:nvPr/>
        </p:nvSpPr>
        <p:spPr>
          <a:xfrm>
            <a:off x="2188393" y="3091911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887036" y="3091910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585679" y="3091909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282609" y="3091909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981252" y="3091908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679895" y="3091907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864603" y="335391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2</a:t>
            </a:r>
            <a:endParaRPr lang="en-SG" sz="4000" b="1" dirty="0"/>
          </a:p>
        </p:txBody>
      </p:sp>
      <p:sp>
        <p:nvSpPr>
          <p:cNvPr id="36" name="Google Shape;272;p19"/>
          <p:cNvSpPr txBox="1">
            <a:spLocks noGrp="1"/>
          </p:cNvSpPr>
          <p:nvPr>
            <p:ph type="body" idx="1"/>
          </p:nvPr>
        </p:nvSpPr>
        <p:spPr>
          <a:xfrm>
            <a:off x="3533199" y="3349815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4</a:t>
            </a:r>
            <a:endParaRPr lang="en-SG" sz="4000" b="1" dirty="0"/>
          </a:p>
        </p:txBody>
      </p:sp>
      <p:sp>
        <p:nvSpPr>
          <p:cNvPr id="37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240401" y="335837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5</a:t>
            </a:r>
            <a:endParaRPr lang="en-SG" sz="4000" b="1" dirty="0"/>
          </a:p>
        </p:txBody>
      </p:sp>
      <p:sp>
        <p:nvSpPr>
          <p:cNvPr id="38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47773" y="3373215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6</a:t>
            </a:r>
            <a:endParaRPr lang="en-SG" sz="4000" b="1" dirty="0"/>
          </a:p>
        </p:txBody>
      </p:sp>
      <p:sp>
        <p:nvSpPr>
          <p:cNvPr id="3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5654975" y="338177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7</a:t>
            </a:r>
            <a:endParaRPr lang="en-SG" sz="4000" b="1" dirty="0"/>
          </a:p>
        </p:txBody>
      </p:sp>
      <p:sp>
        <p:nvSpPr>
          <p:cNvPr id="40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1601062"/>
            <a:ext cx="7701509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In </a:t>
            </a:r>
            <a:r>
              <a:rPr lang="en-US" dirty="0"/>
              <a:t>a traditional list, you have to shuffle all the subsequent elements around to make room for a new one.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7882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Insert a Node (Cont’d)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24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157401" y="3345354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1</a:t>
            </a:r>
            <a:endParaRPr lang="en-SG" sz="4000" b="1" dirty="0"/>
          </a:p>
        </p:txBody>
      </p:sp>
      <p:sp>
        <p:nvSpPr>
          <p:cNvPr id="29" name="Rectangle 28"/>
          <p:cNvSpPr/>
          <p:nvPr/>
        </p:nvSpPr>
        <p:spPr>
          <a:xfrm>
            <a:off x="2188393" y="3091911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2887036" y="3091910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3585679" y="2454916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282609" y="3091909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4981252" y="3091908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679895" y="3091907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2864603" y="335391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2</a:t>
            </a:r>
            <a:endParaRPr lang="en-SG" sz="4000" b="1" dirty="0"/>
          </a:p>
        </p:txBody>
      </p:sp>
      <p:sp>
        <p:nvSpPr>
          <p:cNvPr id="36" name="Google Shape;272;p19"/>
          <p:cNvSpPr txBox="1">
            <a:spLocks noGrp="1"/>
          </p:cNvSpPr>
          <p:nvPr>
            <p:ph type="body" idx="1"/>
          </p:nvPr>
        </p:nvSpPr>
        <p:spPr>
          <a:xfrm>
            <a:off x="3533199" y="2712822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3</a:t>
            </a:r>
            <a:endParaRPr lang="en-SG" sz="4000" b="1" dirty="0"/>
          </a:p>
        </p:txBody>
      </p:sp>
      <p:sp>
        <p:nvSpPr>
          <p:cNvPr id="37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240401" y="335837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4</a:t>
            </a:r>
            <a:endParaRPr lang="en-SG" sz="4000" b="1" dirty="0"/>
          </a:p>
        </p:txBody>
      </p:sp>
      <p:sp>
        <p:nvSpPr>
          <p:cNvPr id="38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47773" y="3373215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5</a:t>
            </a:r>
            <a:endParaRPr lang="en-SG" sz="4000" b="1" dirty="0"/>
          </a:p>
        </p:txBody>
      </p:sp>
      <p:sp>
        <p:nvSpPr>
          <p:cNvPr id="3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5654975" y="338177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6</a:t>
            </a:r>
            <a:endParaRPr lang="en-SG" sz="4000" b="1" dirty="0"/>
          </a:p>
        </p:txBody>
      </p:sp>
      <p:sp>
        <p:nvSpPr>
          <p:cNvPr id="40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4" y="1601062"/>
            <a:ext cx="7701509" cy="300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In </a:t>
            </a:r>
            <a:r>
              <a:rPr lang="en-US" dirty="0"/>
              <a:t>a traditional list, you have to shuffle all the subsequent elements around to make room for a new one.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6376823" y="3090197"/>
            <a:ext cx="698643" cy="1232899"/>
          </a:xfrm>
          <a:prstGeom prst="rect">
            <a:avLst/>
          </a:prstGeom>
          <a:noFill/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351911" y="3390343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7</a:t>
            </a:r>
            <a:endParaRPr lang="en-SG" sz="4000" b="1" dirty="0"/>
          </a:p>
        </p:txBody>
      </p:sp>
    </p:spTree>
    <p:extLst>
      <p:ext uri="{BB962C8B-B14F-4D97-AF65-F5344CB8AC3E}">
        <p14:creationId xmlns:p14="http://schemas.microsoft.com/office/powerpoint/2010/main" val="3081412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Insert a Node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427500" y="2732114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272;p19"/>
          <p:cNvSpPr txBox="1">
            <a:spLocks noGrp="1"/>
          </p:cNvSpPr>
          <p:nvPr>
            <p:ph type="body" idx="1"/>
          </p:nvPr>
        </p:nvSpPr>
        <p:spPr>
          <a:xfrm>
            <a:off x="1603433" y="290910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0</a:t>
            </a:r>
            <a:endParaRPr lang="en-SG" sz="4000" b="1" dirty="0"/>
          </a:p>
        </p:txBody>
      </p:sp>
      <p:sp>
        <p:nvSpPr>
          <p:cNvPr id="14" name="Oval 13"/>
          <p:cNvSpPr/>
          <p:nvPr/>
        </p:nvSpPr>
        <p:spPr>
          <a:xfrm>
            <a:off x="3117683" y="2732114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3293616" y="290910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807866" y="2728035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83799" y="290502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3</a:t>
            </a:r>
            <a:endParaRPr lang="en-SG" sz="4000" b="1" dirty="0"/>
          </a:p>
        </p:txBody>
      </p:sp>
      <p:sp>
        <p:nvSpPr>
          <p:cNvPr id="18" name="Oval 17"/>
          <p:cNvSpPr/>
          <p:nvPr/>
        </p:nvSpPr>
        <p:spPr>
          <a:xfrm>
            <a:off x="6498049" y="2732852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673982" y="2909846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4</a:t>
            </a:r>
            <a:endParaRPr lang="en-SG" sz="4000" b="1" dirty="0"/>
          </a:p>
        </p:txBody>
      </p:sp>
      <p:sp>
        <p:nvSpPr>
          <p:cNvPr id="20" name="Right Arrow 19"/>
          <p:cNvSpPr/>
          <p:nvPr/>
        </p:nvSpPr>
        <p:spPr>
          <a:xfrm>
            <a:off x="2619910" y="3172971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6000276" y="3151491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4335785" y="3151490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59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099" y="836000"/>
            <a:ext cx="6706221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SG" dirty="0" smtClean="0"/>
              <a:t>Insert a Node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1427500" y="2732114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Google Shape;272;p19"/>
          <p:cNvSpPr txBox="1">
            <a:spLocks noGrp="1"/>
          </p:cNvSpPr>
          <p:nvPr>
            <p:ph type="body" idx="1"/>
          </p:nvPr>
        </p:nvSpPr>
        <p:spPr>
          <a:xfrm>
            <a:off x="1603433" y="290910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0</a:t>
            </a:r>
            <a:endParaRPr lang="en-SG" sz="4000" b="1" dirty="0"/>
          </a:p>
        </p:txBody>
      </p:sp>
      <p:sp>
        <p:nvSpPr>
          <p:cNvPr id="14" name="Oval 13"/>
          <p:cNvSpPr/>
          <p:nvPr/>
        </p:nvSpPr>
        <p:spPr>
          <a:xfrm>
            <a:off x="3117683" y="2732114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Google Shape;272;p19"/>
          <p:cNvSpPr txBox="1">
            <a:spLocks noGrp="1"/>
          </p:cNvSpPr>
          <p:nvPr>
            <p:ph type="body" idx="1"/>
          </p:nvPr>
        </p:nvSpPr>
        <p:spPr>
          <a:xfrm>
            <a:off x="3293616" y="2909108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4807866" y="2728035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983799" y="2905029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3</a:t>
            </a:r>
            <a:endParaRPr lang="en-SG" sz="4000" b="1" dirty="0"/>
          </a:p>
        </p:txBody>
      </p:sp>
      <p:sp>
        <p:nvSpPr>
          <p:cNvPr id="18" name="Oval 17"/>
          <p:cNvSpPr/>
          <p:nvPr/>
        </p:nvSpPr>
        <p:spPr>
          <a:xfrm>
            <a:off x="6498049" y="2732852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Google Shape;272;p19"/>
          <p:cNvSpPr txBox="1">
            <a:spLocks noGrp="1"/>
          </p:cNvSpPr>
          <p:nvPr>
            <p:ph type="body" idx="1"/>
          </p:nvPr>
        </p:nvSpPr>
        <p:spPr>
          <a:xfrm>
            <a:off x="6673982" y="2909846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 smtClean="0"/>
              <a:t>4</a:t>
            </a:r>
            <a:endParaRPr lang="en-SG" sz="4000" b="1" dirty="0"/>
          </a:p>
        </p:txBody>
      </p:sp>
      <p:sp>
        <p:nvSpPr>
          <p:cNvPr id="20" name="Right Arrow 19"/>
          <p:cNvSpPr/>
          <p:nvPr/>
        </p:nvSpPr>
        <p:spPr>
          <a:xfrm>
            <a:off x="2619910" y="3172971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/>
          <p:cNvSpPr/>
          <p:nvPr/>
        </p:nvSpPr>
        <p:spPr>
          <a:xfrm rot="2740581">
            <a:off x="4886909" y="2397970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/>
          <p:cNvSpPr/>
          <p:nvPr/>
        </p:nvSpPr>
        <p:spPr>
          <a:xfrm>
            <a:off x="6000276" y="3151491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3934122" y="1236816"/>
            <a:ext cx="1102050" cy="1102050"/>
          </a:xfrm>
          <a:prstGeom prst="ellipse">
            <a:avLst/>
          </a:prstGeom>
          <a:solidFill>
            <a:srgbClr val="14BFEE"/>
          </a:solidFill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Google Shape;272;p19"/>
          <p:cNvSpPr txBox="1">
            <a:spLocks noGrp="1"/>
          </p:cNvSpPr>
          <p:nvPr>
            <p:ph type="body" idx="1"/>
          </p:nvPr>
        </p:nvSpPr>
        <p:spPr>
          <a:xfrm>
            <a:off x="4110055" y="1413810"/>
            <a:ext cx="750183" cy="535887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ctr">
              <a:buNone/>
            </a:pPr>
            <a:r>
              <a:rPr lang="en-SG" sz="4000" b="1" dirty="0"/>
              <a:t>2</a:t>
            </a:r>
            <a:endParaRPr lang="en-SG" sz="4000" b="1" dirty="0"/>
          </a:p>
        </p:txBody>
      </p:sp>
      <p:cxnSp>
        <p:nvCxnSpPr>
          <p:cNvPr id="4" name="Straight Arrow Connector 3"/>
          <p:cNvCxnSpPr>
            <a:stCxn id="14" idx="6"/>
            <a:endCxn id="16" idx="2"/>
          </p:cNvCxnSpPr>
          <p:nvPr/>
        </p:nvCxnSpPr>
        <p:spPr>
          <a:xfrm flipV="1">
            <a:off x="4219733" y="3279060"/>
            <a:ext cx="588133" cy="4079"/>
          </a:xfrm>
          <a:prstGeom prst="straightConnector1">
            <a:avLst/>
          </a:prstGeom>
          <a:ln w="28575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Arrow 30"/>
          <p:cNvSpPr/>
          <p:nvPr/>
        </p:nvSpPr>
        <p:spPr>
          <a:xfrm rot="18768729">
            <a:off x="3717478" y="2396107"/>
            <a:ext cx="390418" cy="176407"/>
          </a:xfrm>
          <a:prstGeom prst="rightArrow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39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515980" y="1862459"/>
            <a:ext cx="6148137" cy="1229657"/>
          </a:xfrm>
        </p:spPr>
        <p:txBody>
          <a:bodyPr/>
          <a:lstStyle/>
          <a:p>
            <a:pPr marL="127000" indent="0">
              <a:buNone/>
            </a:pPr>
            <a:r>
              <a:rPr lang="en-SG" sz="4000" b="1" dirty="0" smtClean="0"/>
              <a:t>Let’s write the linked list </a:t>
            </a:r>
            <a:r>
              <a:rPr lang="en-SG" sz="4000" b="1" dirty="0" smtClean="0"/>
              <a:t>inserting </a:t>
            </a:r>
            <a:r>
              <a:rPr lang="en-SG" sz="4000" b="1" dirty="0" smtClean="0"/>
              <a:t>program </a:t>
            </a:r>
            <a:endParaRPr lang="en-US" sz="4000" b="1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  <p:sp>
        <p:nvSpPr>
          <p:cNvPr id="5" name="Rectangle 4"/>
          <p:cNvSpPr/>
          <p:nvPr/>
        </p:nvSpPr>
        <p:spPr>
          <a:xfrm>
            <a:off x="3525253" y="4638874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tamaran Thin" panose="020B0604020202020204" charset="0"/>
                <a:cs typeface="Catamaran Thin" panose="020B0604020202020204" charset="0"/>
              </a:rPr>
              <a:t>Go to exercise </a:t>
            </a:r>
            <a:r>
              <a:rPr lang="en-US" dirty="0">
                <a:solidFill>
                  <a:srgbClr val="FFFFFF"/>
                </a:solidFill>
                <a:latin typeface="Catamaran Thin" panose="020B0604020202020204" charset="0"/>
                <a:cs typeface="Catamaran Thin" panose="020B0604020202020204" charset="0"/>
              </a:rPr>
              <a:t>4</a:t>
            </a:r>
            <a:endParaRPr lang="en-US" dirty="0">
              <a:solidFill>
                <a:srgbClr val="FFFFFF"/>
              </a:solidFill>
              <a:latin typeface="Catamaran Thin" panose="020B0604020202020204" charset="0"/>
              <a:cs typeface="Catamaran Thin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419" y="3199913"/>
            <a:ext cx="2506405" cy="250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23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57852" y="606056"/>
            <a:ext cx="8276469" cy="808074"/>
          </a:xfrm>
          <a:prstGeom prst="roundRect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Google Shape;31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33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7852" y="672220"/>
            <a:ext cx="84239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0" indent="0">
              <a:buNone/>
            </a:pPr>
            <a:r>
              <a:rPr lang="en-SG" sz="4000" b="1" dirty="0" smtClean="0">
                <a:solidFill>
                  <a:srgbClr val="FFFFFF"/>
                </a:solidFill>
                <a:latin typeface="Catamaran" panose="020B0604020202020204" charset="0"/>
                <a:cs typeface="Catamaran" panose="020B0604020202020204" charset="0"/>
              </a:rPr>
              <a:t>Remove Duplicate Node </a:t>
            </a:r>
            <a:r>
              <a:rPr lang="en-SG" sz="4000" b="1" dirty="0">
                <a:solidFill>
                  <a:srgbClr val="FFFFFF"/>
                </a:solidFill>
                <a:latin typeface="Catamaran" panose="020B0604020202020204" charset="0"/>
                <a:cs typeface="Catamaran" panose="020B0604020202020204" charset="0"/>
              </a:rPr>
              <a:t>C</a:t>
            </a:r>
            <a:r>
              <a:rPr lang="en-SG" sz="4000" b="1" dirty="0" smtClean="0">
                <a:solidFill>
                  <a:srgbClr val="FFFFFF"/>
                </a:solidFill>
                <a:latin typeface="Catamaran" panose="020B0604020202020204" charset="0"/>
                <a:cs typeface="Catamaran" panose="020B0604020202020204" charset="0"/>
              </a:rPr>
              <a:t>hallenge</a:t>
            </a:r>
            <a:endParaRPr lang="en-US" sz="4000" b="1" dirty="0">
              <a:solidFill>
                <a:srgbClr val="FFFFFF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57852" y="1622664"/>
            <a:ext cx="8486148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Complete the ‘</a:t>
            </a:r>
            <a:r>
              <a:rPr lang="en-SG" sz="2000" dirty="0" err="1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remove</a:t>
            </a:r>
            <a:r>
              <a:rPr lang="en-SG" sz="2000" dirty="0" err="1" smtClean="0">
                <a:solidFill>
                  <a:srgbClr val="333333"/>
                </a:solidFill>
                <a:latin typeface="+mj-lt"/>
                <a:cs typeface="Catamaran Thin" panose="020B0604020202020204" charset="0"/>
              </a:rPr>
              <a:t>_</a:t>
            </a:r>
            <a:r>
              <a:rPr lang="en-SG" sz="2000" dirty="0" err="1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duplicates</a:t>
            </a:r>
            <a:r>
              <a:rPr lang="en-SG" sz="2000" dirty="0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() </a:t>
            </a:r>
            <a:r>
              <a:rPr lang="en-SG" sz="2000" dirty="0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so that it </a:t>
            </a:r>
            <a:r>
              <a:rPr lang="en-SG" sz="2000" dirty="0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removes any duplicates nodes</a:t>
            </a:r>
            <a:endParaRPr lang="en-SG" sz="2000" dirty="0" smtClean="0">
              <a:solidFill>
                <a:srgbClr val="333333"/>
              </a:solidFill>
              <a:latin typeface="Catamaran Thin" panose="020B0604020202020204" charset="0"/>
              <a:cs typeface="Catamaran Thin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2000" dirty="0" smtClean="0">
              <a:solidFill>
                <a:srgbClr val="333333"/>
              </a:solidFill>
              <a:latin typeface="Catamaran Thin" panose="020B0604020202020204" charset="0"/>
              <a:cs typeface="Catamaran Thin" panose="020B0604020202020204" charset="0"/>
            </a:endParaRPr>
          </a:p>
          <a:p>
            <a:r>
              <a:rPr lang="en-SG" sz="2000" dirty="0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Input: 2 -&gt; 2 -&gt; 3 -&gt; 3 -&gt; 3 -&gt; 4 -&gt; 5</a:t>
            </a:r>
          </a:p>
          <a:p>
            <a:endParaRPr lang="en-SG" sz="2000" dirty="0">
              <a:solidFill>
                <a:srgbClr val="333333"/>
              </a:solidFill>
              <a:latin typeface="Catamaran Thin" panose="020B0604020202020204" charset="0"/>
              <a:cs typeface="Catamaran Thin" panose="020B0604020202020204" charset="0"/>
            </a:endParaRPr>
          </a:p>
          <a:p>
            <a:r>
              <a:rPr lang="en-SG" sz="2000" dirty="0" smtClean="0">
                <a:solidFill>
                  <a:srgbClr val="333333"/>
                </a:solidFill>
                <a:latin typeface="Catamaran Thin" panose="020B0604020202020204" charset="0"/>
                <a:cs typeface="Catamaran Thin" panose="020B0604020202020204" charset="0"/>
              </a:rPr>
              <a:t>Result: 2 -&gt; 3 -&gt; 4 -&gt; 5</a:t>
            </a:r>
            <a:endParaRPr lang="en-SG" sz="2000" dirty="0" smtClean="0">
              <a:solidFill>
                <a:srgbClr val="333333"/>
              </a:solidFill>
              <a:latin typeface="Catamaran Thin" panose="020B0604020202020204" charset="0"/>
              <a:cs typeface="Catamaran Thin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27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57852" y="606056"/>
            <a:ext cx="8276469" cy="808074"/>
          </a:xfrm>
          <a:prstGeom prst="roundRect">
            <a:avLst/>
          </a:prstGeom>
          <a:ln>
            <a:solidFill>
              <a:schemeClr val="accent1">
                <a:shade val="50000"/>
                <a:alpha val="54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" name="Google Shape;311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34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57852" y="672220"/>
            <a:ext cx="842395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0" indent="0">
              <a:buNone/>
            </a:pPr>
            <a:r>
              <a:rPr lang="en-SG" sz="4000" b="1" dirty="0">
                <a:solidFill>
                  <a:srgbClr val="FFFFFF"/>
                </a:solidFill>
                <a:latin typeface="Catamaran" panose="020B0604020202020204" charset="0"/>
                <a:cs typeface="Catamaran" panose="020B0604020202020204" charset="0"/>
              </a:rPr>
              <a:t>Remove Duplicate Node Challenge</a:t>
            </a:r>
            <a:endParaRPr lang="en-US" sz="4000" b="1" dirty="0">
              <a:solidFill>
                <a:srgbClr val="FFFFFF"/>
              </a:solidFill>
              <a:latin typeface="Catamaran" panose="020B0604020202020204" charset="0"/>
              <a:cs typeface="Catamaran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36435"/>
            <a:ext cx="2484967" cy="2484967"/>
          </a:xfrm>
          <a:prstGeom prst="rect">
            <a:avLst/>
          </a:prstGeom>
        </p:spPr>
      </p:pic>
      <p:sp>
        <p:nvSpPr>
          <p:cNvPr id="10" name="Google Shape;310;p22"/>
          <p:cNvSpPr txBox="1">
            <a:spLocks/>
          </p:cNvSpPr>
          <p:nvPr/>
        </p:nvSpPr>
        <p:spPr>
          <a:xfrm>
            <a:off x="837590" y="2685690"/>
            <a:ext cx="7289267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tamaran"/>
              <a:buNone/>
              <a:defRPr sz="3200" b="1" i="0" u="none" strike="noStrike" cap="none">
                <a:solidFill>
                  <a:schemeClr val="accent1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algn="ctr"/>
            <a:r>
              <a:rPr lang="en-US" sz="24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Go to exercise challenge1</a:t>
            </a:r>
            <a:r>
              <a:rPr lang="en-US" sz="24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_</a:t>
            </a:r>
            <a:r>
              <a:rPr lang="en-US" sz="2400" b="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solution.py for solution</a:t>
            </a:r>
            <a:endParaRPr lang="en-US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489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1558417"/>
            <a:ext cx="7701509" cy="23984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2. Which cases do you need to consider for node insertion?</a:t>
            </a:r>
            <a:endParaRPr lang="en-US" dirty="0"/>
          </a:p>
          <a:p>
            <a:pPr marL="800100" lvl="1" indent="-342900"/>
            <a:r>
              <a:rPr lang="en-SG" dirty="0" smtClean="0"/>
              <a:t>Just a single case</a:t>
            </a:r>
            <a:endParaRPr lang="en-SG" dirty="0"/>
          </a:p>
          <a:p>
            <a:pPr marL="800100" lvl="1" indent="-342900"/>
            <a:r>
              <a:rPr lang="en-SG" dirty="0" smtClean="0"/>
              <a:t>Empty list, replacing head node, any subsequent position</a:t>
            </a:r>
          </a:p>
          <a:p>
            <a:pPr marL="800100" lvl="1" indent="-342900"/>
            <a:r>
              <a:rPr lang="en-SG" dirty="0" smtClean="0"/>
              <a:t>Empty list, any subsequent position</a:t>
            </a:r>
          </a:p>
          <a:p>
            <a:pPr marL="800100" lvl="1" indent="-342900"/>
            <a:r>
              <a:rPr lang="en-SG" dirty="0" smtClean="0"/>
              <a:t>Replacing the head node, any subsequent position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342900" indent="-342900"/>
            <a:endParaRPr lang="en-SG" dirty="0" smtClean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7701484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Quiz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47068"/>
            <a:ext cx="2484967" cy="2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435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1558417"/>
            <a:ext cx="7701509" cy="23984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342900" indent="-342900"/>
            <a:r>
              <a:rPr lang="en-US" dirty="0" smtClean="0"/>
              <a:t>3.</a:t>
            </a:r>
            <a:r>
              <a:rPr lang="en-US" dirty="0" smtClean="0"/>
              <a:t> What happens to a Node that is no longer referenced by any other Node?</a:t>
            </a:r>
            <a:endParaRPr lang="en-US" dirty="0"/>
          </a:p>
          <a:p>
            <a:pPr marL="800100" lvl="1" indent="-342900"/>
            <a:r>
              <a:rPr lang="en-SG" dirty="0" smtClean="0"/>
              <a:t>It will stay in memory until you restart your computer</a:t>
            </a:r>
          </a:p>
          <a:p>
            <a:pPr marL="800100" lvl="1" indent="-342900"/>
            <a:r>
              <a:rPr lang="en-SG" dirty="0" smtClean="0"/>
              <a:t>It stays in memory waiting for a node to link to it again</a:t>
            </a:r>
          </a:p>
          <a:p>
            <a:pPr marL="800100" lvl="1" indent="-342900"/>
            <a:r>
              <a:rPr lang="en-SG" dirty="0" smtClean="0"/>
              <a:t>The Python garbage collector removes it from memory</a:t>
            </a:r>
          </a:p>
          <a:p>
            <a:pPr marL="800100" lvl="1" indent="-342900"/>
            <a:r>
              <a:rPr lang="en-SG" dirty="0" smtClean="0"/>
              <a:t>It stays indefinitely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342900" indent="-342900"/>
            <a:endParaRPr lang="en-SG" dirty="0" smtClean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7701484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Quiz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47068"/>
            <a:ext cx="2484967" cy="2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9"/>
          <p:cNvSpPr txBox="1">
            <a:spLocks noGrp="1"/>
          </p:cNvSpPr>
          <p:nvPr>
            <p:ph type="body" idx="1"/>
          </p:nvPr>
        </p:nvSpPr>
        <p:spPr>
          <a:xfrm>
            <a:off x="779075" y="1558417"/>
            <a:ext cx="7701509" cy="239844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indent="-457200">
              <a:buFont typeface="+mj-lt"/>
              <a:buAutoNum type="arabicPeriod" startAt="2"/>
            </a:pPr>
            <a:r>
              <a:rPr lang="en-SG" dirty="0" smtClean="0"/>
              <a:t>Empty </a:t>
            </a:r>
            <a:r>
              <a:rPr lang="en-SG" dirty="0"/>
              <a:t>list, replacing head node, any subsequent </a:t>
            </a:r>
            <a:r>
              <a:rPr lang="en-SG" dirty="0" smtClean="0"/>
              <a:t>position</a:t>
            </a:r>
          </a:p>
          <a:p>
            <a:pPr indent="-457200">
              <a:buFont typeface="+mj-lt"/>
              <a:buAutoNum type="arabicPeriod" startAt="2"/>
            </a:pPr>
            <a:r>
              <a:rPr lang="en-SG" dirty="0" smtClean="0"/>
              <a:t>The Python </a:t>
            </a:r>
            <a:r>
              <a:rPr lang="en-SG" dirty="0"/>
              <a:t>garbage collector removes it from memory</a:t>
            </a:r>
            <a:endParaRPr lang="en-US" dirty="0"/>
          </a:p>
          <a:p>
            <a:pPr marL="342900" indent="-342900"/>
            <a:endParaRPr lang="en-SG" dirty="0" smtClean="0"/>
          </a:p>
        </p:txBody>
      </p:sp>
      <p:sp>
        <p:nvSpPr>
          <p:cNvPr id="273" name="Google Shape;273;p19"/>
          <p:cNvSpPr txBox="1">
            <a:spLocks noGrp="1"/>
          </p:cNvSpPr>
          <p:nvPr>
            <p:ph type="title"/>
          </p:nvPr>
        </p:nvSpPr>
        <p:spPr>
          <a:xfrm>
            <a:off x="779100" y="836000"/>
            <a:ext cx="7701484" cy="396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SG" dirty="0" smtClean="0"/>
              <a:t>Quiz Answers</a:t>
            </a:r>
            <a:endParaRPr dirty="0"/>
          </a:p>
        </p:txBody>
      </p:sp>
      <p:sp>
        <p:nvSpPr>
          <p:cNvPr id="275" name="Google Shape;275;p1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grpSp>
        <p:nvGrpSpPr>
          <p:cNvPr id="276" name="Google Shape;276;p19"/>
          <p:cNvGrpSpPr/>
          <p:nvPr/>
        </p:nvGrpSpPr>
        <p:grpSpPr>
          <a:xfrm>
            <a:off x="135880" y="874786"/>
            <a:ext cx="257118" cy="276131"/>
            <a:chOff x="611175" y="2326900"/>
            <a:chExt cx="362700" cy="389575"/>
          </a:xfrm>
        </p:grpSpPr>
        <p:sp>
          <p:nvSpPr>
            <p:cNvPr id="277" name="Google Shape;277;p19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04" y="3647068"/>
            <a:ext cx="2484967" cy="248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73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4"/>
          <p:cNvSpPr txBox="1">
            <a:spLocks noGrp="1"/>
          </p:cNvSpPr>
          <p:nvPr>
            <p:ph type="ctrTitle" idx="4294967295"/>
          </p:nvPr>
        </p:nvSpPr>
        <p:spPr>
          <a:xfrm>
            <a:off x="3381175" y="1054175"/>
            <a:ext cx="4422300" cy="115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chemeClr val="lt1"/>
                </a:solidFill>
              </a:rPr>
              <a:t>THANKS!</a:t>
            </a:r>
            <a:endParaRPr sz="7200">
              <a:solidFill>
                <a:schemeClr val="lt1"/>
              </a:solidFill>
            </a:endParaRPr>
          </a:p>
        </p:txBody>
      </p:sp>
      <p:sp>
        <p:nvSpPr>
          <p:cNvPr id="505" name="Google Shape;505;p34"/>
          <p:cNvSpPr txBox="1">
            <a:spLocks noGrp="1"/>
          </p:cNvSpPr>
          <p:nvPr>
            <p:ph type="subTitle" idx="4294967295"/>
          </p:nvPr>
        </p:nvSpPr>
        <p:spPr>
          <a:xfrm>
            <a:off x="3381175" y="2253798"/>
            <a:ext cx="5550174" cy="166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lt1"/>
                </a:solidFill>
              </a:rPr>
              <a:t>You </a:t>
            </a:r>
            <a:r>
              <a:rPr lang="en" b="1" dirty="0">
                <a:solidFill>
                  <a:schemeClr val="lt1"/>
                </a:solidFill>
              </a:rPr>
              <a:t>can find me at:</a:t>
            </a:r>
            <a:endParaRPr b="1" dirty="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</a:pPr>
            <a:r>
              <a:rPr lang="en-SG" b="1" dirty="0" smtClean="0">
                <a:solidFill>
                  <a:schemeClr val="lt1"/>
                </a:solidFill>
              </a:rPr>
              <a:t>https://www.facebook.com/mgsein123</a:t>
            </a:r>
          </a:p>
          <a:p>
            <a:pPr marL="457200" lvl="0" indent="-330200" algn="l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</a:pPr>
            <a:r>
              <a:rPr lang="en-SG" b="1" dirty="0" smtClean="0">
                <a:solidFill>
                  <a:schemeClr val="lt1"/>
                </a:solidFill>
              </a:rPr>
              <a:t>aunghein116688@gmail.com</a:t>
            </a:r>
            <a:endParaRPr b="1" dirty="0">
              <a:solidFill>
                <a:schemeClr val="lt1"/>
              </a:solidFill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⬢"/>
            </a:pPr>
            <a:r>
              <a:rPr lang="en" b="1" dirty="0" smtClean="0">
                <a:solidFill>
                  <a:schemeClr val="lt1"/>
                </a:solidFill>
              </a:rPr>
              <a:t>095120779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506" name="Google Shape;506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38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507" name="Google Shape;507;p34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150" y="504315"/>
            <a:ext cx="1975353" cy="1975353"/>
          </a:xfrm>
          <a:custGeom>
            <a:avLst/>
            <a:gdLst/>
            <a:ahLst/>
            <a:cxnLst/>
            <a:rect l="l" t="t" r="r" b="b"/>
            <a:pathLst>
              <a:path w="21598" h="21456" extrusionOk="0">
                <a:moveTo>
                  <a:pt x="10800" y="0"/>
                </a:moveTo>
                <a:cubicBezTo>
                  <a:pt x="10183" y="0"/>
                  <a:pt x="9567" y="144"/>
                  <a:pt x="9014" y="430"/>
                </a:cubicBezTo>
                <a:lnTo>
                  <a:pt x="1782" y="4189"/>
                </a:lnTo>
                <a:cubicBezTo>
                  <a:pt x="678" y="4763"/>
                  <a:pt x="0" y="5821"/>
                  <a:pt x="0" y="6968"/>
                </a:cubicBezTo>
                <a:lnTo>
                  <a:pt x="0" y="14485"/>
                </a:lnTo>
                <a:cubicBezTo>
                  <a:pt x="1" y="15633"/>
                  <a:pt x="681" y="16694"/>
                  <a:pt x="1786" y="17268"/>
                </a:cubicBezTo>
                <a:lnTo>
                  <a:pt x="9018" y="21026"/>
                </a:lnTo>
                <a:cubicBezTo>
                  <a:pt x="10122" y="21600"/>
                  <a:pt x="11480" y="21600"/>
                  <a:pt x="12585" y="21026"/>
                </a:cubicBezTo>
                <a:lnTo>
                  <a:pt x="19817" y="17268"/>
                </a:lnTo>
                <a:cubicBezTo>
                  <a:pt x="20922" y="16693"/>
                  <a:pt x="21600" y="15633"/>
                  <a:pt x="21599" y="14485"/>
                </a:cubicBezTo>
                <a:lnTo>
                  <a:pt x="21599" y="6968"/>
                </a:lnTo>
                <a:cubicBezTo>
                  <a:pt x="21599" y="5820"/>
                  <a:pt x="20922" y="4762"/>
                  <a:pt x="19817" y="4189"/>
                </a:cubicBezTo>
                <a:lnTo>
                  <a:pt x="12585" y="430"/>
                </a:lnTo>
                <a:cubicBezTo>
                  <a:pt x="12033" y="144"/>
                  <a:pt x="11416" y="0"/>
                  <a:pt x="10800" y="0"/>
                </a:cubicBezTo>
                <a:close/>
              </a:path>
            </a:pathLst>
          </a:custGeom>
          <a:noFill/>
          <a:ln>
            <a:noFill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419" y="3199913"/>
            <a:ext cx="2506405" cy="25064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auphin template">
  <a:themeElements>
    <a:clrScheme name="Custom 347">
      <a:dk1>
        <a:srgbClr val="210635"/>
      </a:dk1>
      <a:lt1>
        <a:srgbClr val="FFFFFF"/>
      </a:lt1>
      <a:dk2>
        <a:srgbClr val="89828F"/>
      </a:dk2>
      <a:lt2>
        <a:srgbClr val="F4F3F8"/>
      </a:lt2>
      <a:accent1>
        <a:srgbClr val="725DCF"/>
      </a:accent1>
      <a:accent2>
        <a:srgbClr val="BD6DE0"/>
      </a:accent2>
      <a:accent3>
        <a:srgbClr val="F07249"/>
      </a:accent3>
      <a:accent4>
        <a:srgbClr val="FFB200"/>
      </a:accent4>
      <a:accent5>
        <a:srgbClr val="9D91EE"/>
      </a:accent5>
      <a:accent6>
        <a:srgbClr val="3691E0"/>
      </a:accent6>
      <a:hlink>
        <a:srgbClr val="6A5DCF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solidFill>
            <a:schemeClr val="accent1">
              <a:shade val="50000"/>
              <a:alpha val="54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4121</TotalTime>
  <Words>1365</Words>
  <Application>Microsoft Office PowerPoint</Application>
  <PresentationFormat>On-screen Show (16:9)</PresentationFormat>
  <Paragraphs>295</Paragraphs>
  <Slides>38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Catamaran</vt:lpstr>
      <vt:lpstr>Catamaran Thin</vt:lpstr>
      <vt:lpstr>Arial</vt:lpstr>
      <vt:lpstr>Courier New</vt:lpstr>
      <vt:lpstr>Calibri</vt:lpstr>
      <vt:lpstr>Dauphin template</vt:lpstr>
      <vt:lpstr>Data Structures &amp; Algorithms in Python</vt:lpstr>
      <vt:lpstr>HELLO!</vt:lpstr>
      <vt:lpstr>Data Structures and Algorithms in Python</vt:lpstr>
      <vt:lpstr>Linked Lists</vt:lpstr>
      <vt:lpstr>Lists</vt:lpstr>
      <vt:lpstr>Lists (Cont’d)</vt:lpstr>
      <vt:lpstr>Lists (Cont’d)</vt:lpstr>
      <vt:lpstr>Linked Lists (Cont’d)</vt:lpstr>
      <vt:lpstr>Linked Lists (Cont’d)</vt:lpstr>
      <vt:lpstr>Linked Lists (Cont’d)</vt:lpstr>
      <vt:lpstr>Array Declaration in Java</vt:lpstr>
      <vt:lpstr>Linked List (Cont’d)</vt:lpstr>
      <vt:lpstr>Linked List (Cont’d)</vt:lpstr>
      <vt:lpstr>Linked List (Cont’d)</vt:lpstr>
      <vt:lpstr>Tuple Declaration in Python</vt:lpstr>
      <vt:lpstr>Lists (Cont’d)</vt:lpstr>
      <vt:lpstr>Lists (Cont’d)</vt:lpstr>
      <vt:lpstr>Lists (Cont’d)</vt:lpstr>
      <vt:lpstr>Linked List</vt:lpstr>
      <vt:lpstr>Applications of Linked Lists</vt:lpstr>
      <vt:lpstr>PowerPoint Presentation</vt:lpstr>
      <vt:lpstr>Quiz</vt:lpstr>
      <vt:lpstr>Quiz Answers</vt:lpstr>
      <vt:lpstr>PowerPoint Presentation</vt:lpstr>
      <vt:lpstr>Increasing Recursion Limit</vt:lpstr>
      <vt:lpstr>PowerPoint Presentation</vt:lpstr>
      <vt:lpstr>Insert a Node</vt:lpstr>
      <vt:lpstr>Insert a Node (Cont’d)</vt:lpstr>
      <vt:lpstr>Insert a Node (Cont’d)</vt:lpstr>
      <vt:lpstr>Insert a Node</vt:lpstr>
      <vt:lpstr>Insert a Node</vt:lpstr>
      <vt:lpstr>PowerPoint Presentation</vt:lpstr>
      <vt:lpstr>PowerPoint Presentation</vt:lpstr>
      <vt:lpstr>PowerPoint Presentation</vt:lpstr>
      <vt:lpstr>Quiz</vt:lpstr>
      <vt:lpstr>Quiz</vt:lpstr>
      <vt:lpstr>Quiz Answers</vt:lpstr>
      <vt:lpstr>THANKS!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Foundations</dc:title>
  <dc:creator>Aung Hein</dc:creator>
  <cp:lastModifiedBy>Aung Hein</cp:lastModifiedBy>
  <cp:revision>332</cp:revision>
  <dcterms:modified xsi:type="dcterms:W3CDTF">2025-10-06T14:20:08Z</dcterms:modified>
</cp:coreProperties>
</file>